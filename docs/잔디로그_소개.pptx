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잔디로그란" id="{c5202cb6-4c05-bc4f-6060-6bb43a89352a}">
          <p14:sldIdLst>
            <p14:sldId id="256"/>
            <p14:sldId id="257"/>
            <p14:sldId id="258"/>
            <p14:sldId id="259"/>
            <p14:sldId id="260"/>
            <p14:sldId id="261"/>
          </p14:sldIdLst>
        </p14:section>
        <p14:section name="구조와 로그인" id="{7e4bf325-9bd5-ac39-6c52-48309f27b09d}">
          <p14:sldIdLst>
            <p14:sldId id="262"/>
            <p14:sldId id="263"/>
          </p14:sldIdLst>
        </p14:section>
        <p14:section name="바뀐 것과 원칙" id="{05cbd924-c57f-3824-2ebc-30d39c926672}">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잔디로그가 무엇인지 한 문장으로 소개합니다. 아래 초록 칸은 한 주(월~일)의 활동을 나타낸 그림이에요. 진한 칸일수록 그날 활동이 많았다는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동아리를 운영해 본 사람이라면 공감하는 문제입니다. 확인이 사람 손에 달려 있으면 기준이 흔들리고 관계도 어색해져요. 그래서 기준을 숫자로 정하고 서버가 매주 같은 방식으로 확인하게 만들었습니다.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규칙입니다. 인증일 3일 이상, 그리고 기록글 1개 이상이 있어야 그 주가 통과예요. 기록글을 쓴 날도 인증일에 들어가기 때문에, 잔디가 없는 날에 글을 써도 인정됩니다.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사람이 매주 확인하지 않아도 서버가 정해진 시각에 스스로 움직입니다. 화면은 저장된 잔디를 보여 주기 때문에 “오늘 오전 6시 기준”처럼 불러온 시각이 함께 표시돼요.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경고와 벌칙의 규칙입니다. 관리자가 벌칙 이행을 확인하면 경고와 연속 통과 횟수가 모두 0으로 돌아가고, 이 상태는 되돌릴 수 없어요.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예전에는 가입 후 관리자의 승인이 필요했지만 지금은 없어졌습니다. 관리자 권한만 현재 관리자가 직접 올려 주는 방식이에요.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손님이 보는 홀, 요리를 만드는 주방, 재료를 두는 창고로 비유했습니다. 화면은 서버에 GraphQL이라는 주문서로 필요한 정보만 정확히 요청해요. 화면과 서버 사이에는 주문서 양식을 바꿔 주는 통역 층(브리지)이 있어서, 하나씩 실제 서버로 옮겨 가고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순서가 있는 내용이라 단계로 나눴습니다. 일회용 코드가 중간에 끼는 이유는, 출입증을 주소창에 그대로 실어 보내지 않기 위해서예요.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작업의 변경 사항 요약입니다. 서버 쪽은 규칙이 바뀌었고, 화면 쪽은 길 찾기와 정보 표시가 좋아졌어요.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사람이 화면을 쓰는 습관에 맞춘 오래된 디자인 법칙 다섯 가지입니다. 오른쪽 열에는 이 프로젝트에서 실제로 적용한 곳을 적었어요.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저장소 3종은 Docker로, 서버는 Java 21로, 화면은 Node 24로 실행합니다. GitHub 로그인 키와 잔디 조회용 토큰은 서버의 .env 파일에서 읽고, 이 파일은 저장소에 올리지 않아요.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 슬라이드입니다. 기준 숫자 두 개와 판정 시각만 기억하면 서비스를 설명할 수 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10515600" cy="1463040"/>
          </a:xfrm>
          <a:prstGeom prst="rect">
            <a:avLst/>
          </a:prstGeom>
          <a:noFill/>
          <a:ln/>
        </p:spPr>
        <p:txBody>
          <a:bodyPr wrap="square" rtlCol="0"/>
          <a:lstStyle>
            <a:lvl1pPr algn="l" indent="0" marL="0">
              <a:buNone/>
              <a:defRPr lang="en-US" sz="8000" b="1" dirty="0">
                <a:solidFill>
                  <a:schemeClr val="bg1"/>
                </a:solidFill>
              </a:defRPr>
            </a:lvl1pPr>
          </a:lstStyle>
          <a:p>
            <a:pPr algn="l" indent="0" marL="0">
              <a:buNone/>
            </a:pPr>
            <a:endParaRPr lang="en-US" sz="8000" dirty="0"/>
          </a:p>
        </p:txBody>
      </p:sp>
      <p:sp>
        <p:nvSpPr>
          <p:cNvPr id="3" name="Text 0"/>
          <p:cNvSpPr/>
          <p:nvPr>
            <p:ph idx="101" type="body" hasCustomPrompt="1"/>
          </p:nvPr>
        </p:nvSpPr>
        <p:spPr>
          <a:xfrm>
            <a:off x="640080" y="3291840"/>
            <a:ext cx="10881360" cy="1097280"/>
          </a:xfrm>
          <a:prstGeom prst="rect">
            <a:avLst/>
          </a:prstGeom>
          <a:noFill/>
          <a:ln/>
        </p:spPr>
        <p:txBody>
          <a:bodyPr wrap="square" rtlCol="0"/>
          <a:lstStyle>
            <a:lvl1pPr algn="l" indent="0" marL="0">
              <a:buNone/>
              <a:defRPr lang="en-US" sz="2400" dirty="0">
                <a:solidFill>
                  <a:srgbClr val="C9D8CD"/>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08792" cy="10058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640080" y="6355080"/>
            <a:ext cx="2743200" cy="274320"/>
          </a:xfrm>
          <a:prstGeom prst="rect">
            <a:avLst/>
          </a:prstGeom>
          <a:noFill/>
          <a:ln/>
        </p:spPr>
        <p:txBody>
          <a:bodyPr wrap="square" lIns="0" tIns="0" rIns="0" bIns="0" rtlCol="0" anchor="ctr"/>
          <a:lstStyle/>
          <a:p>
            <a:pPr indent="0" marL="0">
              <a:buNone/>
            </a:pPr>
            <a:r>
              <a:rPr lang="en-US" sz="1200" dirty="0">
                <a:solidFill>
                  <a:srgbClr val="9FB5A5"/>
                </a:solidFill>
              </a:rPr>
              <a:t>잔디로그</a:t>
            </a:r>
            <a:endParaRPr lang="en-US" sz="12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9FB5A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08792" cy="10058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640080" y="6355080"/>
            <a:ext cx="2743200" cy="274320"/>
          </a:xfrm>
          <a:prstGeom prst="rect">
            <a:avLst/>
          </a:prstGeom>
          <a:noFill/>
          <a:ln/>
        </p:spPr>
        <p:txBody>
          <a:bodyPr wrap="square" lIns="0" tIns="0" rIns="0" bIns="0" rtlCol="0" anchor="ctr"/>
          <a:lstStyle/>
          <a:p>
            <a:pPr indent="0" marL="0">
              <a:buNone/>
            </a:pPr>
            <a:r>
              <a:rPr lang="en-US" sz="1200" dirty="0">
                <a:solidFill>
                  <a:srgbClr val="6C7770"/>
                </a:solidFill>
              </a:rPr>
              <a:t>잔디로그</a:t>
            </a:r>
            <a:endParaRPr lang="en-US" sz="12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C7770"/>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REEN">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10241280" cy="21945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nvSpPr>
        <p:spPr>
          <a:xfrm>
            <a:off x="640080" y="6355080"/>
            <a:ext cx="2743200" cy="274320"/>
          </a:xfrm>
          <a:prstGeom prst="rect">
            <a:avLst/>
          </a:prstGeom>
          <a:noFill/>
          <a:ln/>
        </p:spPr>
        <p:txBody>
          <a:bodyPr wrap="square" lIns="0" tIns="0" rIns="0" bIns="0" rtlCol="0" anchor="ctr"/>
          <a:lstStyle/>
          <a:p>
            <a:pPr indent="0" marL="0">
              <a:buNone/>
            </a:pPr>
            <a:r>
              <a:rPr lang="en-US" sz="1200" dirty="0">
                <a:solidFill>
                  <a:srgbClr val="BFE2CC"/>
                </a:solidFill>
              </a:rPr>
              <a:t>잔디로그</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9FB5A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97280"/>
            <a:ext cx="7315200" cy="457200"/>
          </a:xfrm>
          <a:prstGeom prst="rect">
            <a:avLst/>
          </a:prstGeom>
          <a:noFill/>
          <a:ln/>
        </p:spPr>
        <p:txBody>
          <a:bodyPr wrap="square" lIns="0" tIns="0" rIns="0" bIns="0" rtlCol="0" anchor="ctr"/>
          <a:lstStyle/>
          <a:p>
            <a:pPr indent="0" marL="0">
              <a:buNone/>
            </a:pPr>
            <a:r>
              <a:rPr lang="en-US" sz="2000" b="1" dirty="0">
                <a:solidFill>
                  <a:schemeClr val="accent2"/>
                </a:solidFill>
                <a:latin typeface="Malgun Gothic" pitchFamily="34" charset="0"/>
                <a:ea typeface="Malgun Gothic" pitchFamily="34" charset="-122"/>
                <a:cs typeface="Malgun Gothic" pitchFamily="34" charset="-120"/>
              </a:rPr>
              <a:t>동아리 주간 출석부 서비스</a:t>
            </a:r>
            <a:endParaRPr lang="en-US" sz="2000" dirty="0"/>
          </a:p>
        </p:txBody>
      </p:sp>
      <p:sp>
        <p:nvSpPr>
          <p:cNvPr id="3" name="Text 0"/>
          <p:cNvSpPr/>
          <p:nvPr>
            <p:ph idx="100" type="title" hasCustomPrompt="1"/>
          </p:nvPr>
        </p:nvSpPr>
        <p:spPr>
          <a:xfrm>
            <a:off x="640080" y="1737360"/>
            <a:ext cx="10515600" cy="1463040"/>
          </a:xfrm>
          <a:prstGeom prst="rect">
            <a:avLst/>
          </a:prstGeom>
          <a:noFill/>
          <a:ln/>
        </p:spPr>
        <p:txBody>
          <a:bodyPr wrap="square" rtlCol="0" anchor="t"/>
          <a:lstStyle/>
          <a:p>
            <a:pPr algn="l" indent="0" marL="0">
              <a:buNone/>
            </a:pPr>
            <a:r>
              <a:rPr lang="en-US" sz="8000" b="1" dirty="0">
                <a:solidFill>
                  <a:schemeClr val="bg1"/>
                </a:solidFill>
              </a:rPr>
              <a:t>잔디로그</a:t>
            </a:r>
            <a:endParaRPr lang="en-US" sz="8000" dirty="0"/>
          </a:p>
        </p:txBody>
      </p:sp>
      <p:sp>
        <p:nvSpPr>
          <p:cNvPr id="4" name="Text 0"/>
          <p:cNvSpPr/>
          <p:nvPr>
            <p:ph idx="101" type="body" hasCustomPrompt="1"/>
          </p:nvPr>
        </p:nvSpPr>
        <p:spPr>
          <a:xfrm>
            <a:off x="640080" y="3291840"/>
            <a:ext cx="10881360" cy="1097280"/>
          </a:xfrm>
          <a:prstGeom prst="rect">
            <a:avLst/>
          </a:prstGeom>
          <a:noFill/>
          <a:ln/>
        </p:spPr>
        <p:txBody>
          <a:bodyPr wrap="square" rtlCol="0" anchor="t"/>
          <a:lstStyle/>
          <a:p>
            <a:pPr algn="l" indent="0" marL="0">
              <a:buNone/>
            </a:pPr>
            <a:r>
              <a:rPr lang="en-US" sz="2400" dirty="0">
                <a:solidFill>
                  <a:srgbClr val="C9D8CD"/>
                </a:solidFill>
              </a:rPr>
              <a:t>GitHub 잔디와 기록글을 모아, 한 주를 통과했는지 서버가 매주 월요일에 판정해요.</a:t>
            </a:r>
            <a:endParaRPr lang="en-US" sz="2400" dirty="0"/>
          </a:p>
        </p:txBody>
      </p:sp>
      <p:sp>
        <p:nvSpPr>
          <p:cNvPr id="5" name="week-cell-1"/>
          <p:cNvSpPr/>
          <p:nvPr/>
        </p:nvSpPr>
        <p:spPr>
          <a:xfrm>
            <a:off x="640080" y="5029200"/>
            <a:ext cx="804672" cy="804672"/>
          </a:xfrm>
          <a:prstGeom prst="roundRect">
            <a:avLst>
              <a:gd name="adj" fmla="val 13636"/>
            </a:avLst>
          </a:prstGeom>
          <a:solidFill>
            <a:srgbClr val="7FC49B"/>
          </a:solidFill>
          <a:ln w="12700">
            <a:solidFill>
              <a:srgbClr val="7FC49B"/>
            </a:solidFill>
            <a:prstDash val="solid"/>
          </a:ln>
        </p:spPr>
      </p:sp>
      <p:sp>
        <p:nvSpPr>
          <p:cNvPr id="6" name="week-cell-2"/>
          <p:cNvSpPr/>
          <p:nvPr/>
        </p:nvSpPr>
        <p:spPr>
          <a:xfrm>
            <a:off x="1600200" y="5029200"/>
            <a:ext cx="804672" cy="804672"/>
          </a:xfrm>
          <a:prstGeom prst="roundRect">
            <a:avLst>
              <a:gd name="adj" fmla="val 13636"/>
            </a:avLst>
          </a:prstGeom>
          <a:solidFill>
            <a:srgbClr val="2F5A40"/>
          </a:solidFill>
          <a:ln w="12700">
            <a:solidFill>
              <a:srgbClr val="2F5A40"/>
            </a:solidFill>
            <a:prstDash val="solid"/>
          </a:ln>
        </p:spPr>
      </p:sp>
      <p:sp>
        <p:nvSpPr>
          <p:cNvPr id="7" name="week-cell-3"/>
          <p:cNvSpPr/>
          <p:nvPr/>
        </p:nvSpPr>
        <p:spPr>
          <a:xfrm>
            <a:off x="2560320" y="5029200"/>
            <a:ext cx="804672" cy="804672"/>
          </a:xfrm>
          <a:prstGeom prst="roundRect">
            <a:avLst>
              <a:gd name="adj" fmla="val 13636"/>
            </a:avLst>
          </a:prstGeom>
          <a:solidFill>
            <a:srgbClr val="3A9A5E"/>
          </a:solidFill>
          <a:ln w="12700">
            <a:solidFill>
              <a:srgbClr val="3A9A5E"/>
            </a:solidFill>
            <a:prstDash val="solid"/>
          </a:ln>
        </p:spPr>
      </p:sp>
      <p:sp>
        <p:nvSpPr>
          <p:cNvPr id="8" name="week-cell-4"/>
          <p:cNvSpPr/>
          <p:nvPr/>
        </p:nvSpPr>
        <p:spPr>
          <a:xfrm>
            <a:off x="3520440" y="5029200"/>
            <a:ext cx="804672" cy="804672"/>
          </a:xfrm>
          <a:prstGeom prst="roundRect">
            <a:avLst>
              <a:gd name="adj" fmla="val 13636"/>
            </a:avLst>
          </a:prstGeom>
          <a:solidFill>
            <a:srgbClr val="7FC49B"/>
          </a:solidFill>
          <a:ln w="12700">
            <a:solidFill>
              <a:srgbClr val="7FC49B"/>
            </a:solidFill>
            <a:prstDash val="solid"/>
          </a:ln>
        </p:spPr>
      </p:sp>
      <p:sp>
        <p:nvSpPr>
          <p:cNvPr id="9" name="week-cell-5"/>
          <p:cNvSpPr/>
          <p:nvPr/>
        </p:nvSpPr>
        <p:spPr>
          <a:xfrm>
            <a:off x="4480560" y="5029200"/>
            <a:ext cx="804672" cy="804672"/>
          </a:xfrm>
          <a:prstGeom prst="roundRect">
            <a:avLst>
              <a:gd name="adj" fmla="val 13636"/>
            </a:avLst>
          </a:prstGeom>
          <a:solidFill>
            <a:srgbClr val="1E6B3C"/>
          </a:solidFill>
          <a:ln w="12700">
            <a:solidFill>
              <a:srgbClr val="1E6B3C"/>
            </a:solidFill>
            <a:prstDash val="solid"/>
          </a:ln>
        </p:spPr>
      </p:sp>
      <p:sp>
        <p:nvSpPr>
          <p:cNvPr id="10" name="week-cell-6"/>
          <p:cNvSpPr/>
          <p:nvPr/>
        </p:nvSpPr>
        <p:spPr>
          <a:xfrm>
            <a:off x="5440680" y="5029200"/>
            <a:ext cx="804672" cy="804672"/>
          </a:xfrm>
          <a:prstGeom prst="roundRect">
            <a:avLst>
              <a:gd name="adj" fmla="val 13636"/>
            </a:avLst>
          </a:prstGeom>
          <a:solidFill>
            <a:srgbClr val="263029"/>
          </a:solidFill>
          <a:ln w="12700">
            <a:solidFill>
              <a:srgbClr val="263029"/>
            </a:solidFill>
            <a:prstDash val="solid"/>
          </a:ln>
        </p:spPr>
      </p:sp>
      <p:sp>
        <p:nvSpPr>
          <p:cNvPr id="11" name="week-cell-7"/>
          <p:cNvSpPr/>
          <p:nvPr/>
        </p:nvSpPr>
        <p:spPr>
          <a:xfrm>
            <a:off x="6400800" y="5029200"/>
            <a:ext cx="804672" cy="804672"/>
          </a:xfrm>
          <a:prstGeom prst="roundRect">
            <a:avLst>
              <a:gd name="adj" fmla="val 13636"/>
            </a:avLst>
          </a:prstGeom>
          <a:solidFill>
            <a:srgbClr val="3A9A5E"/>
          </a:solidFill>
          <a:ln w="12700">
            <a:solidFill>
              <a:srgbClr val="3A9A5E"/>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08792" cy="1005840"/>
          </a:xfrm>
          <a:prstGeom prst="rect">
            <a:avLst/>
          </a:prstGeom>
          <a:noFill/>
          <a:ln/>
        </p:spPr>
        <p:txBody>
          <a:bodyPr wrap="square" rtlCol="0" anchor="t"/>
          <a:lstStyle/>
          <a:p>
            <a:pPr algn="l" indent="0" marL="0">
              <a:buNone/>
            </a:pPr>
            <a:r>
              <a:rPr lang="en-US" sz="3600" b="1" dirty="0">
                <a:solidFill>
                  <a:schemeClr val="tx1"/>
                </a:solidFill>
              </a:rPr>
              <a:t>꾸준히 하자는 약속은 서로 확인하기가 어려워요</a:t>
            </a:r>
            <a:endParaRPr lang="en-US" sz="3600" dirty="0"/>
          </a:p>
        </p:txBody>
      </p:sp>
      <p:sp>
        <p:nvSpPr>
          <p:cNvPr id="3" name="problem-card-1"/>
          <p:cNvSpPr/>
          <p:nvPr/>
        </p:nvSpPr>
        <p:spPr>
          <a:xfrm>
            <a:off x="640080" y="1828800"/>
            <a:ext cx="3361944" cy="2468880"/>
          </a:xfrm>
          <a:prstGeom prst="roundRect">
            <a:avLst>
              <a:gd name="adj" fmla="val 4444"/>
            </a:avLst>
          </a:prstGeom>
          <a:solidFill>
            <a:schemeClr val="bg2"/>
          </a:solidFill>
          <a:ln w="15875">
            <a:solidFill>
              <a:schemeClr val="accent5"/>
            </a:solidFill>
            <a:prstDash val="solid"/>
          </a:ln>
        </p:spPr>
      </p:sp>
      <p:sp>
        <p:nvSpPr>
          <p:cNvPr id="4" name="Text 2"/>
          <p:cNvSpPr txBox="1"/>
          <p:nvPr/>
        </p:nvSpPr>
        <p:spPr>
          <a:xfrm>
            <a:off x="960120" y="2103120"/>
            <a:ext cx="2721864" cy="822960"/>
          </a:xfrm>
          <a:prstGeom prst="rect">
            <a:avLst/>
          </a:prstGeom>
          <a:noFill/>
          <a:ln/>
        </p:spPr>
        <p:txBody>
          <a:bodyPr wrap="square" lIns="0" tIns="0" rIns="0" bIns="0" rtlCol="0" anchor="t"/>
          <a:lstStyle/>
          <a:p>
            <a:pPr indent="0" marL="0">
              <a:buNone/>
            </a:pPr>
            <a:r>
              <a:rPr lang="en-US" sz="1900" b="1" dirty="0">
                <a:solidFill>
                  <a:schemeClr val="tx1"/>
                </a:solidFill>
                <a:latin typeface="Malgun Gothic" pitchFamily="34" charset="0"/>
                <a:ea typeface="Malgun Gothic" pitchFamily="34" charset="-122"/>
                <a:cs typeface="Malgun Gothic" pitchFamily="34" charset="-120"/>
              </a:rPr>
              <a:t>매주 직접 확인해야 해요</a:t>
            </a:r>
            <a:endParaRPr lang="en-US" sz="1900" dirty="0"/>
          </a:p>
        </p:txBody>
      </p:sp>
      <p:sp>
        <p:nvSpPr>
          <p:cNvPr id="5" name="Text 3"/>
          <p:cNvSpPr txBox="1"/>
          <p:nvPr/>
        </p:nvSpPr>
        <p:spPr>
          <a:xfrm>
            <a:off x="960120" y="3017520"/>
            <a:ext cx="2721864" cy="1097280"/>
          </a:xfrm>
          <a:prstGeom prst="rect">
            <a:avLst/>
          </a:prstGeom>
          <a:noFill/>
          <a:ln/>
        </p:spPr>
        <p:txBody>
          <a:bodyPr wrap="square" lIns="0" tIns="0" rIns="0" bIns="0" rtlCol="0" anchor="t"/>
          <a:lstStyle/>
          <a:p>
            <a:pPr indent="0" marL="0">
              <a:buNone/>
            </a:pPr>
            <a:r>
              <a:rPr lang="en-US" sz="1800" dirty="0">
                <a:solidFill>
                  <a:schemeClr val="accent6"/>
                </a:solidFill>
                <a:latin typeface="Malgun Gothic" pitchFamily="34" charset="0"/>
                <a:ea typeface="Malgun Gothic" pitchFamily="34" charset="-122"/>
                <a:cs typeface="Malgun Gothic" pitchFamily="34" charset="-120"/>
              </a:rPr>
              <a:t>운영진이 한 사람씩 GitHub를 열어 봐야 해요.</a:t>
            </a:r>
            <a:endParaRPr lang="en-US" sz="1800" dirty="0"/>
          </a:p>
        </p:txBody>
      </p:sp>
      <p:sp>
        <p:nvSpPr>
          <p:cNvPr id="6" name="problem-card-2"/>
          <p:cNvSpPr/>
          <p:nvPr/>
        </p:nvSpPr>
        <p:spPr>
          <a:xfrm>
            <a:off x="4276344" y="1828800"/>
            <a:ext cx="3361944" cy="2468880"/>
          </a:xfrm>
          <a:prstGeom prst="roundRect">
            <a:avLst>
              <a:gd name="adj" fmla="val 4444"/>
            </a:avLst>
          </a:prstGeom>
          <a:solidFill>
            <a:schemeClr val="bg2"/>
          </a:solidFill>
          <a:ln w="15875">
            <a:solidFill>
              <a:schemeClr val="accent5"/>
            </a:solidFill>
            <a:prstDash val="solid"/>
          </a:ln>
        </p:spPr>
      </p:sp>
      <p:sp>
        <p:nvSpPr>
          <p:cNvPr id="7" name="Text 5"/>
          <p:cNvSpPr txBox="1"/>
          <p:nvPr/>
        </p:nvSpPr>
        <p:spPr>
          <a:xfrm>
            <a:off x="4596384" y="2103120"/>
            <a:ext cx="2721864" cy="822960"/>
          </a:xfrm>
          <a:prstGeom prst="rect">
            <a:avLst/>
          </a:prstGeom>
          <a:noFill/>
          <a:ln/>
        </p:spPr>
        <p:txBody>
          <a:bodyPr wrap="square" lIns="0" tIns="0" rIns="0" bIns="0" rtlCol="0" anchor="t"/>
          <a:lstStyle/>
          <a:p>
            <a:pPr indent="0" marL="0">
              <a:buNone/>
            </a:pPr>
            <a:r>
              <a:rPr lang="en-US" sz="1900" b="1" dirty="0">
                <a:solidFill>
                  <a:schemeClr val="tx1"/>
                </a:solidFill>
                <a:latin typeface="Malgun Gothic" pitchFamily="34" charset="0"/>
                <a:ea typeface="Malgun Gothic" pitchFamily="34" charset="-122"/>
                <a:cs typeface="Malgun Gothic" pitchFamily="34" charset="-120"/>
              </a:rPr>
              <a:t>기준이 사람마다 달라요</a:t>
            </a:r>
            <a:endParaRPr lang="en-US" sz="1900" dirty="0"/>
          </a:p>
        </p:txBody>
      </p:sp>
      <p:sp>
        <p:nvSpPr>
          <p:cNvPr id="8" name="Text 6"/>
          <p:cNvSpPr txBox="1"/>
          <p:nvPr/>
        </p:nvSpPr>
        <p:spPr>
          <a:xfrm>
            <a:off x="4596384" y="3017520"/>
            <a:ext cx="2721864" cy="1097280"/>
          </a:xfrm>
          <a:prstGeom prst="rect">
            <a:avLst/>
          </a:prstGeom>
          <a:noFill/>
          <a:ln/>
        </p:spPr>
        <p:txBody>
          <a:bodyPr wrap="square" lIns="0" tIns="0" rIns="0" bIns="0" rtlCol="0" anchor="t"/>
          <a:lstStyle/>
          <a:p>
            <a:pPr indent="0" marL="0">
              <a:buNone/>
            </a:pPr>
            <a:r>
              <a:rPr lang="en-US" sz="1800" dirty="0">
                <a:solidFill>
                  <a:schemeClr val="accent6"/>
                </a:solidFill>
                <a:latin typeface="Malgun Gothic" pitchFamily="34" charset="0"/>
                <a:ea typeface="Malgun Gothic" pitchFamily="34" charset="-122"/>
                <a:cs typeface="Malgun Gothic" pitchFamily="34" charset="-120"/>
              </a:rPr>
              <a:t>누구는 3일, 누구는 5일을 “꾸준히”라고 생각해요.</a:t>
            </a:r>
            <a:endParaRPr lang="en-US" sz="1800" dirty="0"/>
          </a:p>
        </p:txBody>
      </p:sp>
      <p:sp>
        <p:nvSpPr>
          <p:cNvPr id="9" name="problem-card-3"/>
          <p:cNvSpPr/>
          <p:nvPr/>
        </p:nvSpPr>
        <p:spPr>
          <a:xfrm>
            <a:off x="7912608" y="1828800"/>
            <a:ext cx="3361944" cy="2468880"/>
          </a:xfrm>
          <a:prstGeom prst="roundRect">
            <a:avLst>
              <a:gd name="adj" fmla="val 4444"/>
            </a:avLst>
          </a:prstGeom>
          <a:solidFill>
            <a:schemeClr val="bg2"/>
          </a:solidFill>
          <a:ln w="15875">
            <a:solidFill>
              <a:schemeClr val="accent5"/>
            </a:solidFill>
            <a:prstDash val="solid"/>
          </a:ln>
        </p:spPr>
      </p:sp>
      <p:sp>
        <p:nvSpPr>
          <p:cNvPr id="10" name="Text 8"/>
          <p:cNvSpPr txBox="1"/>
          <p:nvPr/>
        </p:nvSpPr>
        <p:spPr>
          <a:xfrm>
            <a:off x="8232648" y="2103120"/>
            <a:ext cx="2721864" cy="822960"/>
          </a:xfrm>
          <a:prstGeom prst="rect">
            <a:avLst/>
          </a:prstGeom>
          <a:noFill/>
          <a:ln/>
        </p:spPr>
        <p:txBody>
          <a:bodyPr wrap="square" lIns="0" tIns="0" rIns="0" bIns="0" rtlCol="0" anchor="t"/>
          <a:lstStyle/>
          <a:p>
            <a:pPr indent="0" marL="0">
              <a:buNone/>
            </a:pPr>
            <a:r>
              <a:rPr lang="en-US" sz="1900" b="1" dirty="0">
                <a:solidFill>
                  <a:schemeClr val="tx1"/>
                </a:solidFill>
                <a:latin typeface="Malgun Gothic" pitchFamily="34" charset="0"/>
                <a:ea typeface="Malgun Gothic" pitchFamily="34" charset="-122"/>
                <a:cs typeface="Malgun Gothic" pitchFamily="34" charset="-120"/>
              </a:rPr>
              <a:t>빠진 사람에게 말하기 껄끄러워요</a:t>
            </a:r>
            <a:endParaRPr lang="en-US" sz="1900" dirty="0"/>
          </a:p>
        </p:txBody>
      </p:sp>
      <p:sp>
        <p:nvSpPr>
          <p:cNvPr id="11" name="Text 9"/>
          <p:cNvSpPr txBox="1"/>
          <p:nvPr/>
        </p:nvSpPr>
        <p:spPr>
          <a:xfrm>
            <a:off x="8232648" y="3017520"/>
            <a:ext cx="2721864" cy="1097280"/>
          </a:xfrm>
          <a:prstGeom prst="rect">
            <a:avLst/>
          </a:prstGeom>
          <a:noFill/>
          <a:ln/>
        </p:spPr>
        <p:txBody>
          <a:bodyPr wrap="square" lIns="0" tIns="0" rIns="0" bIns="0" rtlCol="0" anchor="t"/>
          <a:lstStyle/>
          <a:p>
            <a:pPr indent="0" marL="0">
              <a:buNone/>
            </a:pPr>
            <a:r>
              <a:rPr lang="en-US" sz="1800" dirty="0">
                <a:solidFill>
                  <a:schemeClr val="accent6"/>
                </a:solidFill>
                <a:latin typeface="Malgun Gothic" pitchFamily="34" charset="0"/>
                <a:ea typeface="Malgun Gothic" pitchFamily="34" charset="-122"/>
                <a:cs typeface="Malgun Gothic" pitchFamily="34" charset="-120"/>
              </a:rPr>
              <a:t>사람이 말하면 감정이 상하기 쉬워요.</a:t>
            </a:r>
            <a:endParaRPr lang="en-US" sz="1800" dirty="0"/>
          </a:p>
        </p:txBody>
      </p:sp>
      <p:sp>
        <p:nvSpPr>
          <p:cNvPr id="12" name="Text 10"/>
          <p:cNvSpPr txBox="1"/>
          <p:nvPr/>
        </p:nvSpPr>
        <p:spPr>
          <a:xfrm>
            <a:off x="640080" y="5029200"/>
            <a:ext cx="10908792" cy="548640"/>
          </a:xfrm>
          <a:prstGeom prst="rect">
            <a:avLst/>
          </a:prstGeom>
          <a:noFill/>
          <a:ln/>
        </p:spPr>
        <p:txBody>
          <a:bodyPr wrap="square" lIns="0" tIns="0" rIns="0" bIns="0" rtlCol="0" anchor="ctr"/>
          <a:lstStyle/>
          <a:p>
            <a:pPr indent="0" marL="0">
              <a:buNone/>
            </a:pPr>
            <a:r>
              <a:rPr lang="en-US" sz="2600" b="1" dirty="0">
                <a:solidFill>
                  <a:schemeClr val="accent1"/>
                </a:solidFill>
                <a:latin typeface="Malgun Gothic" pitchFamily="34" charset="0"/>
                <a:ea typeface="Malgun Gothic" pitchFamily="34" charset="-122"/>
                <a:cs typeface="Malgun Gothic" pitchFamily="34" charset="-120"/>
              </a:rPr>
              <a:t>잔디로그가 이 확인을 같은 기준으로 자동으로 해요.</a:t>
            </a:r>
            <a:endParaRPr lang="en-US" sz="26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C77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08792" cy="1005840"/>
          </a:xfrm>
          <a:prstGeom prst="rect">
            <a:avLst/>
          </a:prstGeom>
          <a:noFill/>
          <a:ln/>
        </p:spPr>
        <p:txBody>
          <a:bodyPr wrap="square" rtlCol="0" anchor="t"/>
          <a:lstStyle/>
          <a:p>
            <a:pPr algn="l" indent="0" marL="0">
              <a:buNone/>
            </a:pPr>
            <a:r>
              <a:rPr lang="en-US" sz="3600" b="1" dirty="0">
                <a:solidFill>
                  <a:schemeClr val="tx1"/>
                </a:solidFill>
              </a:rPr>
              <a:t>한 주를 통과하는 기준은 두 가지예요</a:t>
            </a:r>
            <a:endParaRPr lang="en-US" sz="3600" dirty="0"/>
          </a:p>
        </p:txBody>
      </p:sp>
      <p:sp>
        <p:nvSpPr>
          <p:cNvPr id="3" name="rule-days"/>
          <p:cNvSpPr/>
          <p:nvPr/>
        </p:nvSpPr>
        <p:spPr>
          <a:xfrm>
            <a:off x="640080" y="1783080"/>
            <a:ext cx="5271516" cy="3383280"/>
          </a:xfrm>
          <a:prstGeom prst="roundRect">
            <a:avLst>
              <a:gd name="adj" fmla="val 3243"/>
            </a:avLst>
          </a:prstGeom>
          <a:solidFill>
            <a:schemeClr val="accent1"/>
          </a:solidFill>
          <a:ln w="12700">
            <a:solidFill>
              <a:schemeClr val="accent1"/>
            </a:solidFill>
            <a:prstDash val="solid"/>
          </a:ln>
        </p:spPr>
      </p:sp>
      <p:sp>
        <p:nvSpPr>
          <p:cNvPr id="4" name="Text 2"/>
          <p:cNvSpPr txBox="1"/>
          <p:nvPr/>
        </p:nvSpPr>
        <p:spPr>
          <a:xfrm>
            <a:off x="1097280" y="1920240"/>
            <a:ext cx="3657600" cy="1371600"/>
          </a:xfrm>
          <a:prstGeom prst="rect">
            <a:avLst/>
          </a:prstGeom>
          <a:noFill/>
          <a:ln/>
        </p:spPr>
        <p:txBody>
          <a:bodyPr wrap="square" lIns="0" tIns="0" rIns="0" bIns="0" rtlCol="0" anchor="ctr"/>
          <a:lstStyle/>
          <a:p>
            <a:pPr indent="0" marL="0">
              <a:buNone/>
            </a:pPr>
            <a:r>
              <a:rPr lang="en-US" sz="8000" b="1" dirty="0">
                <a:solidFill>
                  <a:schemeClr val="bg1"/>
                </a:solidFill>
                <a:latin typeface="Malgun Gothic" pitchFamily="34" charset="0"/>
                <a:ea typeface="Malgun Gothic" pitchFamily="34" charset="-122"/>
                <a:cs typeface="Malgun Gothic" pitchFamily="34" charset="-120"/>
              </a:rPr>
              <a:t>3일</a:t>
            </a:r>
            <a:endParaRPr lang="en-US" sz="8000" dirty="0"/>
          </a:p>
        </p:txBody>
      </p:sp>
      <p:sp>
        <p:nvSpPr>
          <p:cNvPr id="5" name="Text 3"/>
          <p:cNvSpPr txBox="1"/>
          <p:nvPr/>
        </p:nvSpPr>
        <p:spPr>
          <a:xfrm>
            <a:off x="1097280" y="3291840"/>
            <a:ext cx="4572000" cy="457200"/>
          </a:xfrm>
          <a:prstGeom prst="rect">
            <a:avLst/>
          </a:prstGeom>
          <a:noFill/>
          <a:ln/>
        </p:spPr>
        <p:txBody>
          <a:bodyPr wrap="square" lIns="0" tIns="0" rIns="0" bIns="0" rtlCol="0" anchor="ctr"/>
          <a:lstStyle/>
          <a:p>
            <a:pPr indent="0" marL="0">
              <a:buNone/>
            </a:pPr>
            <a:r>
              <a:rPr lang="en-US" sz="2400" b="1" dirty="0">
                <a:solidFill>
                  <a:schemeClr val="bg1"/>
                </a:solidFill>
                <a:latin typeface="Malgun Gothic" pitchFamily="34" charset="0"/>
                <a:ea typeface="Malgun Gothic" pitchFamily="34" charset="-122"/>
                <a:cs typeface="Malgun Gothic" pitchFamily="34" charset="-120"/>
              </a:rPr>
              <a:t>인증일</a:t>
            </a:r>
            <a:endParaRPr lang="en-US" sz="2400" dirty="0"/>
          </a:p>
        </p:txBody>
      </p:sp>
      <p:sp>
        <p:nvSpPr>
          <p:cNvPr id="6" name="Text 4"/>
          <p:cNvSpPr txBox="1"/>
          <p:nvPr/>
        </p:nvSpPr>
        <p:spPr>
          <a:xfrm>
            <a:off x="1097280" y="3840480"/>
            <a:ext cx="4357116" cy="1097280"/>
          </a:xfrm>
          <a:prstGeom prst="rect">
            <a:avLst/>
          </a:prstGeom>
          <a:noFill/>
          <a:ln/>
        </p:spPr>
        <p:txBody>
          <a:bodyPr wrap="square" lIns="0" tIns="0" rIns="0" bIns="0" rtlCol="0" anchor="t"/>
          <a:lstStyle/>
          <a:p>
            <a:pPr indent="0" marL="0">
              <a:buNone/>
            </a:pPr>
            <a:r>
              <a:rPr lang="en-US" sz="1800" dirty="0">
                <a:solidFill>
                  <a:srgbClr val="E3F1E8"/>
                </a:solidFill>
                <a:latin typeface="Malgun Gothic" pitchFamily="34" charset="0"/>
                <a:ea typeface="Malgun Gothic" pitchFamily="34" charset="-122"/>
                <a:cs typeface="Malgun Gothic" pitchFamily="34" charset="-120"/>
              </a:rPr>
              <a:t>GitHub 잔디가 있거나 기록글을 쓴 날이에요. 같은 날 둘 다 있어도 하루로 세요.</a:t>
            </a:r>
            <a:endParaRPr lang="en-US" sz="1800" dirty="0"/>
          </a:p>
        </p:txBody>
      </p:sp>
      <p:sp>
        <p:nvSpPr>
          <p:cNvPr id="7" name="rule-record"/>
          <p:cNvSpPr/>
          <p:nvPr/>
        </p:nvSpPr>
        <p:spPr>
          <a:xfrm>
            <a:off x="6277356" y="1783080"/>
            <a:ext cx="5271516" cy="3383280"/>
          </a:xfrm>
          <a:prstGeom prst="roundRect">
            <a:avLst>
              <a:gd name="adj" fmla="val 3243"/>
            </a:avLst>
          </a:prstGeom>
          <a:solidFill>
            <a:schemeClr val="bg2"/>
          </a:solidFill>
          <a:ln w="15875">
            <a:solidFill>
              <a:schemeClr val="accent1"/>
            </a:solidFill>
            <a:prstDash val="solid"/>
          </a:ln>
        </p:spPr>
      </p:sp>
      <p:sp>
        <p:nvSpPr>
          <p:cNvPr id="8" name="Text 6"/>
          <p:cNvSpPr txBox="1"/>
          <p:nvPr/>
        </p:nvSpPr>
        <p:spPr>
          <a:xfrm>
            <a:off x="6734556" y="1920240"/>
            <a:ext cx="3657600" cy="1371600"/>
          </a:xfrm>
          <a:prstGeom prst="rect">
            <a:avLst/>
          </a:prstGeom>
          <a:noFill/>
          <a:ln/>
        </p:spPr>
        <p:txBody>
          <a:bodyPr wrap="square" lIns="0" tIns="0" rIns="0" bIns="0" rtlCol="0" anchor="ctr"/>
          <a:lstStyle/>
          <a:p>
            <a:pPr indent="0" marL="0">
              <a:buNone/>
            </a:pPr>
            <a:r>
              <a:rPr lang="en-US" sz="8000" b="1" dirty="0">
                <a:solidFill>
                  <a:schemeClr val="accent1"/>
                </a:solidFill>
                <a:latin typeface="Malgun Gothic" pitchFamily="34" charset="0"/>
                <a:ea typeface="Malgun Gothic" pitchFamily="34" charset="-122"/>
                <a:cs typeface="Malgun Gothic" pitchFamily="34" charset="-120"/>
              </a:rPr>
              <a:t>1개</a:t>
            </a:r>
            <a:endParaRPr lang="en-US" sz="8000" dirty="0"/>
          </a:p>
        </p:txBody>
      </p:sp>
      <p:sp>
        <p:nvSpPr>
          <p:cNvPr id="9" name="Text 7"/>
          <p:cNvSpPr txBox="1"/>
          <p:nvPr/>
        </p:nvSpPr>
        <p:spPr>
          <a:xfrm>
            <a:off x="6734556" y="3291840"/>
            <a:ext cx="4572000" cy="457200"/>
          </a:xfrm>
          <a:prstGeom prst="rect">
            <a:avLst/>
          </a:prstGeom>
          <a:noFill/>
          <a:ln/>
        </p:spPr>
        <p:txBody>
          <a:bodyPr wrap="square" lIns="0" tIns="0" rIns="0" bIns="0" rtlCol="0" anchor="ctr"/>
          <a:lstStyle/>
          <a:p>
            <a:pPr indent="0" marL="0">
              <a:buNone/>
            </a:pPr>
            <a:r>
              <a:rPr lang="en-US" sz="2400" b="1" dirty="0">
                <a:solidFill>
                  <a:schemeClr val="tx1"/>
                </a:solidFill>
                <a:latin typeface="Malgun Gothic" pitchFamily="34" charset="0"/>
                <a:ea typeface="Malgun Gothic" pitchFamily="34" charset="-122"/>
                <a:cs typeface="Malgun Gothic" pitchFamily="34" charset="-120"/>
              </a:rPr>
              <a:t>기록글</a:t>
            </a:r>
            <a:endParaRPr lang="en-US" sz="2400" dirty="0"/>
          </a:p>
        </p:txBody>
      </p:sp>
      <p:sp>
        <p:nvSpPr>
          <p:cNvPr id="10" name="Text 8"/>
          <p:cNvSpPr txBox="1"/>
          <p:nvPr/>
        </p:nvSpPr>
        <p:spPr>
          <a:xfrm>
            <a:off x="6734556" y="3840480"/>
            <a:ext cx="4357116" cy="1097280"/>
          </a:xfrm>
          <a:prstGeom prst="rect">
            <a:avLst/>
          </a:prstGeom>
          <a:noFill/>
          <a:ln/>
        </p:spPr>
        <p:txBody>
          <a:bodyPr wrap="square" lIns="0" tIns="0" rIns="0" bIns="0" rtlCol="0" anchor="t"/>
          <a:lstStyle/>
          <a:p>
            <a:pPr indent="0" marL="0">
              <a:buNone/>
            </a:pPr>
            <a:r>
              <a:rPr lang="en-US" sz="1800" dirty="0">
                <a:solidFill>
                  <a:schemeClr val="accent6"/>
                </a:solidFill>
                <a:latin typeface="Malgun Gothic" pitchFamily="34" charset="0"/>
                <a:ea typeface="Malgun Gothic" pitchFamily="34" charset="-122"/>
                <a:cs typeface="Malgun Gothic" pitchFamily="34" charset="-120"/>
              </a:rPr>
              <a:t>필수 항목을 모두 채운 글이에요. 트러블슈팅은 문제·원인·해결, 개발일지는 한 일·배운 점이에요.</a:t>
            </a:r>
            <a:endParaRPr lang="en-US" sz="1800" dirty="0"/>
          </a:p>
        </p:txBody>
      </p:sp>
      <p:sp>
        <p:nvSpPr>
          <p:cNvPr id="11" name="Text 9"/>
          <p:cNvSpPr txBox="1"/>
          <p:nvPr/>
        </p:nvSpPr>
        <p:spPr>
          <a:xfrm>
            <a:off x="640080" y="5486400"/>
            <a:ext cx="10908792" cy="457200"/>
          </a:xfrm>
          <a:prstGeom prst="rect">
            <a:avLst/>
          </a:prstGeom>
          <a:noFill/>
          <a:ln/>
        </p:spPr>
        <p:txBody>
          <a:bodyPr wrap="square" lIns="0" tIns="0" rIns="0" bIns="0" rtlCol="0" anchor="ctr"/>
          <a:lstStyle/>
          <a:p>
            <a:pPr indent="0" marL="0">
              <a:buNone/>
            </a:pPr>
            <a:r>
              <a:rPr lang="en-US" sz="2000" dirty="0">
                <a:solidFill>
                  <a:schemeClr val="accent6"/>
                </a:solidFill>
                <a:latin typeface="Malgun Gothic" pitchFamily="34" charset="0"/>
                <a:ea typeface="Malgun Gothic" pitchFamily="34" charset="-122"/>
                <a:cs typeface="Malgun Gothic" pitchFamily="34" charset="-120"/>
              </a:rPr>
              <a:t>두 가지를 모두 채우면 통과, 하나라도 모자라면 미달이에요.</a:t>
            </a:r>
            <a:endParaRPr lang="en-US" sz="20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C77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08792" cy="1005840"/>
          </a:xfrm>
          <a:prstGeom prst="rect">
            <a:avLst/>
          </a:prstGeom>
          <a:noFill/>
          <a:ln/>
        </p:spPr>
        <p:txBody>
          <a:bodyPr wrap="square" rtlCol="0" anchor="t"/>
          <a:lstStyle/>
          <a:p>
            <a:pPr algn="l" indent="0" marL="0">
              <a:buNone/>
            </a:pPr>
            <a:r>
              <a:rPr lang="en-US" sz="3600" b="1" dirty="0">
                <a:solidFill>
                  <a:schemeClr val="bg1"/>
                </a:solidFill>
              </a:rPr>
              <a:t>한 주는 정해진 시각에 저절로 흘러가요</a:t>
            </a:r>
            <a:endParaRPr lang="en-US" sz="3600" dirty="0"/>
          </a:p>
        </p:txBody>
      </p:sp>
      <p:sp>
        <p:nvSpPr>
          <p:cNvPr id="3" name="flow-card-1"/>
          <p:cNvSpPr/>
          <p:nvPr/>
        </p:nvSpPr>
        <p:spPr>
          <a:xfrm>
            <a:off x="640080" y="1828800"/>
            <a:ext cx="2521458" cy="3017520"/>
          </a:xfrm>
          <a:prstGeom prst="roundRect">
            <a:avLst>
              <a:gd name="adj" fmla="val 4352"/>
            </a:avLst>
          </a:prstGeom>
          <a:solidFill>
            <a:srgbClr val="1B3526"/>
          </a:solidFill>
          <a:ln w="12700">
            <a:solidFill>
              <a:srgbClr val="1B3526"/>
            </a:solidFill>
            <a:prstDash val="solid"/>
          </a:ln>
        </p:spPr>
      </p:sp>
      <p:sp>
        <p:nvSpPr>
          <p:cNvPr id="4" name="Text 2"/>
          <p:cNvSpPr txBox="1"/>
          <p:nvPr/>
        </p:nvSpPr>
        <p:spPr>
          <a:xfrm>
            <a:off x="914400" y="2103120"/>
            <a:ext cx="1972818" cy="457200"/>
          </a:xfrm>
          <a:prstGeom prst="rect">
            <a:avLst/>
          </a:prstGeom>
          <a:noFill/>
          <a:ln/>
        </p:spPr>
        <p:txBody>
          <a:bodyPr wrap="square" lIns="0" tIns="0" rIns="0" bIns="0" rtlCol="0" anchor="ctr"/>
          <a:lstStyle/>
          <a:p>
            <a:pPr indent="0" marL="0">
              <a:buNone/>
            </a:pPr>
            <a:r>
              <a:rPr lang="en-US" sz="2000" b="1" dirty="0">
                <a:solidFill>
                  <a:schemeClr val="accent2"/>
                </a:solidFill>
                <a:latin typeface="Malgun Gothic" pitchFamily="34" charset="0"/>
                <a:ea typeface="Malgun Gothic" pitchFamily="34" charset="-122"/>
                <a:cs typeface="Malgun Gothic" pitchFamily="34" charset="-120"/>
              </a:rPr>
              <a:t>매일 오전 6시</a:t>
            </a:r>
            <a:endParaRPr lang="en-US" sz="2000" dirty="0"/>
          </a:p>
        </p:txBody>
      </p:sp>
      <p:sp>
        <p:nvSpPr>
          <p:cNvPr id="5" name="Text 3"/>
          <p:cNvSpPr txBox="1"/>
          <p:nvPr/>
        </p:nvSpPr>
        <p:spPr>
          <a:xfrm>
            <a:off x="914400" y="2743200"/>
            <a:ext cx="1972818" cy="1828800"/>
          </a:xfrm>
          <a:prstGeom prst="rect">
            <a:avLst/>
          </a:prstGeom>
          <a:noFill/>
          <a:ln/>
        </p:spPr>
        <p:txBody>
          <a:bodyPr wrap="square" lIns="0" tIns="0" rIns="0" bIns="0" rtlCol="0" anchor="t"/>
          <a:lstStyle/>
          <a:p>
            <a:pPr indent="0" marL="0">
              <a:buNone/>
            </a:pPr>
            <a:r>
              <a:rPr lang="en-US" sz="1600" dirty="0">
                <a:solidFill>
                  <a:srgbClr val="DBE7DE"/>
                </a:solidFill>
                <a:latin typeface="Malgun Gothic" pitchFamily="34" charset="0"/>
                <a:ea typeface="Malgun Gothic" pitchFamily="34" charset="-122"/>
                <a:cs typeface="Malgun Gothic" pitchFamily="34" charset="-120"/>
              </a:rPr>
              <a:t>모든 회원의 GitHub 잔디를 불러와 저장해요.</a:t>
            </a:r>
            <a:endParaRPr lang="en-US" sz="1600" dirty="0"/>
          </a:p>
        </p:txBody>
      </p:sp>
      <p:sp>
        <p:nvSpPr>
          <p:cNvPr id="6" name="flow-card-2"/>
          <p:cNvSpPr/>
          <p:nvPr/>
        </p:nvSpPr>
        <p:spPr>
          <a:xfrm>
            <a:off x="3435858" y="1828800"/>
            <a:ext cx="2521458" cy="3017520"/>
          </a:xfrm>
          <a:prstGeom prst="roundRect">
            <a:avLst>
              <a:gd name="adj" fmla="val 4352"/>
            </a:avLst>
          </a:prstGeom>
          <a:solidFill>
            <a:srgbClr val="1B3526"/>
          </a:solidFill>
          <a:ln w="12700">
            <a:solidFill>
              <a:srgbClr val="1B3526"/>
            </a:solidFill>
            <a:prstDash val="solid"/>
          </a:ln>
        </p:spPr>
      </p:sp>
      <p:sp>
        <p:nvSpPr>
          <p:cNvPr id="7" name="Text 5"/>
          <p:cNvSpPr txBox="1"/>
          <p:nvPr/>
        </p:nvSpPr>
        <p:spPr>
          <a:xfrm>
            <a:off x="3710178" y="2103120"/>
            <a:ext cx="1972818" cy="457200"/>
          </a:xfrm>
          <a:prstGeom prst="rect">
            <a:avLst/>
          </a:prstGeom>
          <a:noFill/>
          <a:ln/>
        </p:spPr>
        <p:txBody>
          <a:bodyPr wrap="square" lIns="0" tIns="0" rIns="0" bIns="0" rtlCol="0" anchor="ctr"/>
          <a:lstStyle/>
          <a:p>
            <a:pPr indent="0" marL="0">
              <a:buNone/>
            </a:pPr>
            <a:r>
              <a:rPr lang="en-US" sz="2000" b="1" dirty="0">
                <a:solidFill>
                  <a:schemeClr val="accent2"/>
                </a:solidFill>
                <a:latin typeface="Malgun Gothic" pitchFamily="34" charset="0"/>
                <a:ea typeface="Malgun Gothic" pitchFamily="34" charset="-122"/>
                <a:cs typeface="Malgun Gothic" pitchFamily="34" charset="-120"/>
              </a:rPr>
              <a:t>일요일 밤</a:t>
            </a:r>
            <a:endParaRPr lang="en-US" sz="2000" dirty="0"/>
          </a:p>
        </p:txBody>
      </p:sp>
      <p:sp>
        <p:nvSpPr>
          <p:cNvPr id="8" name="Text 6"/>
          <p:cNvSpPr txBox="1"/>
          <p:nvPr/>
        </p:nvSpPr>
        <p:spPr>
          <a:xfrm>
            <a:off x="3710178" y="2743200"/>
            <a:ext cx="1972818" cy="1828800"/>
          </a:xfrm>
          <a:prstGeom prst="rect">
            <a:avLst/>
          </a:prstGeom>
          <a:noFill/>
          <a:ln/>
        </p:spPr>
        <p:txBody>
          <a:bodyPr wrap="square" lIns="0" tIns="0" rIns="0" bIns="0" rtlCol="0" anchor="t"/>
          <a:lstStyle/>
          <a:p>
            <a:pPr indent="0" marL="0">
              <a:buNone/>
            </a:pPr>
            <a:r>
              <a:rPr lang="en-US" sz="1600" dirty="0">
                <a:solidFill>
                  <a:srgbClr val="DBE7DE"/>
                </a:solidFill>
                <a:latin typeface="Malgun Gothic" pitchFamily="34" charset="0"/>
                <a:ea typeface="Malgun Gothic" pitchFamily="34" charset="-122"/>
                <a:cs typeface="Malgun Gothic" pitchFamily="34" charset="-120"/>
              </a:rPr>
              <a:t>한 주(월~일)가 끝나요. 이때 소속 팀이 기준이에요.</a:t>
            </a:r>
            <a:endParaRPr lang="en-US" sz="1600" dirty="0"/>
          </a:p>
        </p:txBody>
      </p:sp>
      <p:sp>
        <p:nvSpPr>
          <p:cNvPr id="9" name="flow-card-3"/>
          <p:cNvSpPr/>
          <p:nvPr/>
        </p:nvSpPr>
        <p:spPr>
          <a:xfrm>
            <a:off x="6231636" y="1828800"/>
            <a:ext cx="2521458" cy="3017520"/>
          </a:xfrm>
          <a:prstGeom prst="roundRect">
            <a:avLst>
              <a:gd name="adj" fmla="val 4352"/>
            </a:avLst>
          </a:prstGeom>
          <a:solidFill>
            <a:srgbClr val="1B3526"/>
          </a:solidFill>
          <a:ln w="12700">
            <a:solidFill>
              <a:srgbClr val="1B3526"/>
            </a:solidFill>
            <a:prstDash val="solid"/>
          </a:ln>
        </p:spPr>
      </p:sp>
      <p:sp>
        <p:nvSpPr>
          <p:cNvPr id="10" name="Text 8"/>
          <p:cNvSpPr txBox="1"/>
          <p:nvPr/>
        </p:nvSpPr>
        <p:spPr>
          <a:xfrm>
            <a:off x="6505956" y="2103120"/>
            <a:ext cx="1972818" cy="457200"/>
          </a:xfrm>
          <a:prstGeom prst="rect">
            <a:avLst/>
          </a:prstGeom>
          <a:noFill/>
          <a:ln/>
        </p:spPr>
        <p:txBody>
          <a:bodyPr wrap="square" lIns="0" tIns="0" rIns="0" bIns="0" rtlCol="0" anchor="ctr"/>
          <a:lstStyle/>
          <a:p>
            <a:pPr indent="0" marL="0">
              <a:buNone/>
            </a:pPr>
            <a:r>
              <a:rPr lang="en-US" sz="2000" b="1" dirty="0">
                <a:solidFill>
                  <a:schemeClr val="accent2"/>
                </a:solidFill>
                <a:latin typeface="Malgun Gothic" pitchFamily="34" charset="0"/>
                <a:ea typeface="Malgun Gothic" pitchFamily="34" charset="-122"/>
                <a:cs typeface="Malgun Gothic" pitchFamily="34" charset="-120"/>
              </a:rPr>
              <a:t>월요일 오전 7시</a:t>
            </a:r>
            <a:endParaRPr lang="en-US" sz="2000" dirty="0"/>
          </a:p>
        </p:txBody>
      </p:sp>
      <p:sp>
        <p:nvSpPr>
          <p:cNvPr id="11" name="Text 9"/>
          <p:cNvSpPr txBox="1"/>
          <p:nvPr/>
        </p:nvSpPr>
        <p:spPr>
          <a:xfrm>
            <a:off x="6505956" y="2743200"/>
            <a:ext cx="1972818" cy="1828800"/>
          </a:xfrm>
          <a:prstGeom prst="rect">
            <a:avLst/>
          </a:prstGeom>
          <a:noFill/>
          <a:ln/>
        </p:spPr>
        <p:txBody>
          <a:bodyPr wrap="square" lIns="0" tIns="0" rIns="0" bIns="0" rtlCol="0" anchor="t"/>
          <a:lstStyle/>
          <a:p>
            <a:pPr indent="0" marL="0">
              <a:buNone/>
            </a:pPr>
            <a:r>
              <a:rPr lang="en-US" sz="1600" dirty="0">
                <a:solidFill>
                  <a:srgbClr val="DBE7DE"/>
                </a:solidFill>
                <a:latin typeface="Malgun Gothic" pitchFamily="34" charset="0"/>
                <a:ea typeface="Malgun Gothic" pitchFamily="34" charset="-122"/>
                <a:cs typeface="Malgun Gothic" pitchFamily="34" charset="-120"/>
              </a:rPr>
              <a:t>지난 주를 판정해요. 통과, 미달, 면제, 제외 중 하나가 돼요.</a:t>
            </a:r>
            <a:endParaRPr lang="en-US" sz="1600" dirty="0"/>
          </a:p>
        </p:txBody>
      </p:sp>
      <p:sp>
        <p:nvSpPr>
          <p:cNvPr id="12" name="flow-card-4"/>
          <p:cNvSpPr/>
          <p:nvPr/>
        </p:nvSpPr>
        <p:spPr>
          <a:xfrm>
            <a:off x="9027414" y="1828800"/>
            <a:ext cx="2521458" cy="3017520"/>
          </a:xfrm>
          <a:prstGeom prst="roundRect">
            <a:avLst>
              <a:gd name="adj" fmla="val 4352"/>
            </a:avLst>
          </a:prstGeom>
          <a:solidFill>
            <a:srgbClr val="1B3526"/>
          </a:solidFill>
          <a:ln w="12700">
            <a:solidFill>
              <a:srgbClr val="1B3526"/>
            </a:solidFill>
            <a:prstDash val="solid"/>
          </a:ln>
        </p:spPr>
      </p:sp>
      <p:sp>
        <p:nvSpPr>
          <p:cNvPr id="13" name="Text 11"/>
          <p:cNvSpPr txBox="1"/>
          <p:nvPr/>
        </p:nvSpPr>
        <p:spPr>
          <a:xfrm>
            <a:off x="9301734" y="2103120"/>
            <a:ext cx="1972818" cy="457200"/>
          </a:xfrm>
          <a:prstGeom prst="rect">
            <a:avLst/>
          </a:prstGeom>
          <a:noFill/>
          <a:ln/>
        </p:spPr>
        <p:txBody>
          <a:bodyPr wrap="square" lIns="0" tIns="0" rIns="0" bIns="0" rtlCol="0" anchor="ctr"/>
          <a:lstStyle/>
          <a:p>
            <a:pPr indent="0" marL="0">
              <a:buNone/>
            </a:pPr>
            <a:r>
              <a:rPr lang="en-US" sz="2000" b="1" dirty="0">
                <a:solidFill>
                  <a:schemeClr val="accent2"/>
                </a:solidFill>
                <a:latin typeface="Malgun Gothic" pitchFamily="34" charset="0"/>
                <a:ea typeface="Malgun Gothic" pitchFamily="34" charset="-122"/>
                <a:cs typeface="Malgun Gothic" pitchFamily="34" charset="-120"/>
              </a:rPr>
              <a:t>판정 직후</a:t>
            </a:r>
            <a:endParaRPr lang="en-US" sz="2000" dirty="0"/>
          </a:p>
        </p:txBody>
      </p:sp>
      <p:sp>
        <p:nvSpPr>
          <p:cNvPr id="14" name="Text 12"/>
          <p:cNvSpPr txBox="1"/>
          <p:nvPr/>
        </p:nvSpPr>
        <p:spPr>
          <a:xfrm>
            <a:off x="9301734" y="2743200"/>
            <a:ext cx="1972818" cy="1828800"/>
          </a:xfrm>
          <a:prstGeom prst="rect">
            <a:avLst/>
          </a:prstGeom>
          <a:noFill/>
          <a:ln/>
        </p:spPr>
        <p:txBody>
          <a:bodyPr wrap="square" lIns="0" tIns="0" rIns="0" bIns="0" rtlCol="0" anchor="t"/>
          <a:lstStyle/>
          <a:p>
            <a:pPr indent="0" marL="0">
              <a:buNone/>
            </a:pPr>
            <a:r>
              <a:rPr lang="en-US" sz="1600" dirty="0">
                <a:solidFill>
                  <a:srgbClr val="DBE7DE"/>
                </a:solidFill>
                <a:latin typeface="Malgun Gothic" pitchFamily="34" charset="0"/>
                <a:ea typeface="Malgun Gothic" pitchFamily="34" charset="-122"/>
                <a:cs typeface="Malgun Gothic" pitchFamily="34" charset="-120"/>
              </a:rPr>
              <a:t>미달이면 경고가 늘고, 연속 통과하면 줄어요.</a:t>
            </a:r>
            <a:endParaRPr lang="en-US" sz="1600" dirty="0"/>
          </a:p>
        </p:txBody>
      </p:sp>
      <p:sp>
        <p:nvSpPr>
          <p:cNvPr id="15" name="Text 13"/>
          <p:cNvSpPr txBox="1"/>
          <p:nvPr/>
        </p:nvSpPr>
        <p:spPr>
          <a:xfrm>
            <a:off x="640080" y="5303520"/>
            <a:ext cx="10908792" cy="457200"/>
          </a:xfrm>
          <a:prstGeom prst="rect">
            <a:avLst/>
          </a:prstGeom>
          <a:noFill/>
          <a:ln/>
        </p:spPr>
        <p:txBody>
          <a:bodyPr wrap="square" lIns="0" tIns="0" rIns="0" bIns="0" rtlCol="0" anchor="ctr"/>
          <a:lstStyle/>
          <a:p>
            <a:pPr indent="0" marL="0">
              <a:buNone/>
            </a:pPr>
            <a:r>
              <a:rPr lang="en-US" sz="1800" dirty="0">
                <a:solidFill>
                  <a:srgbClr val="C9D8CD"/>
                </a:solidFill>
                <a:latin typeface="Malgun Gothic" pitchFamily="34" charset="0"/>
                <a:ea typeface="Malgun Gothic" pitchFamily="34" charset="-122"/>
                <a:cs typeface="Malgun Gothic" pitchFamily="34" charset="-120"/>
              </a:rPr>
              <a:t>처음 팀에 들어간 주와 면제 주간은 판정하지 않아요.</a:t>
            </a:r>
            <a:endParaRPr lang="en-US" sz="18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9FB5A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08792" cy="1005840"/>
          </a:xfrm>
          <a:prstGeom prst="rect">
            <a:avLst/>
          </a:prstGeom>
          <a:noFill/>
          <a:ln/>
        </p:spPr>
        <p:txBody>
          <a:bodyPr wrap="square" rtlCol="0" anchor="t"/>
          <a:lstStyle/>
          <a:p>
            <a:pPr algn="l" indent="0" marL="0">
              <a:buNone/>
            </a:pPr>
            <a:r>
              <a:rPr lang="en-US" sz="3600" b="1" dirty="0">
                <a:solidFill>
                  <a:schemeClr val="tx1"/>
                </a:solidFill>
              </a:rPr>
              <a:t>경고 3개가 쌓이면 벌칙 대상이에요</a:t>
            </a:r>
            <a:endParaRPr lang="en-US" sz="3600" dirty="0"/>
          </a:p>
        </p:txBody>
      </p:sp>
      <p:sp>
        <p:nvSpPr>
          <p:cNvPr id="3" name="gauge-1"/>
          <p:cNvSpPr/>
          <p:nvPr/>
        </p:nvSpPr>
        <p:spPr>
          <a:xfrm>
            <a:off x="8503920" y="685800"/>
            <a:ext cx="914400" cy="256032"/>
          </a:xfrm>
          <a:prstGeom prst="roundRect">
            <a:avLst>
              <a:gd name="adj" fmla="val 50000"/>
            </a:avLst>
          </a:prstGeom>
          <a:solidFill>
            <a:schemeClr val="accent3"/>
          </a:solidFill>
          <a:ln w="12700">
            <a:solidFill>
              <a:schemeClr val="accent3"/>
            </a:solidFill>
            <a:prstDash val="solid"/>
          </a:ln>
        </p:spPr>
      </p:sp>
      <p:sp>
        <p:nvSpPr>
          <p:cNvPr id="4" name="gauge-2"/>
          <p:cNvSpPr/>
          <p:nvPr/>
        </p:nvSpPr>
        <p:spPr>
          <a:xfrm>
            <a:off x="9555480" y="685800"/>
            <a:ext cx="914400" cy="256032"/>
          </a:xfrm>
          <a:prstGeom prst="roundRect">
            <a:avLst>
              <a:gd name="adj" fmla="val 50000"/>
            </a:avLst>
          </a:prstGeom>
          <a:solidFill>
            <a:schemeClr val="accent3"/>
          </a:solidFill>
          <a:ln w="12700">
            <a:solidFill>
              <a:schemeClr val="accent3"/>
            </a:solidFill>
            <a:prstDash val="solid"/>
          </a:ln>
        </p:spPr>
      </p:sp>
      <p:sp>
        <p:nvSpPr>
          <p:cNvPr id="5" name="gauge-3"/>
          <p:cNvSpPr/>
          <p:nvPr/>
        </p:nvSpPr>
        <p:spPr>
          <a:xfrm>
            <a:off x="10607040" y="685800"/>
            <a:ext cx="914400" cy="256032"/>
          </a:xfrm>
          <a:prstGeom prst="roundRect">
            <a:avLst>
              <a:gd name="adj" fmla="val 50000"/>
            </a:avLst>
          </a:prstGeom>
          <a:solidFill>
            <a:schemeClr val="accent5"/>
          </a:solidFill>
          <a:ln w="12700">
            <a:solidFill>
              <a:schemeClr val="accent5"/>
            </a:solidFill>
            <a:prstDash val="solid"/>
          </a:ln>
        </p:spPr>
      </p:sp>
      <p:sp>
        <p:nvSpPr>
          <p:cNvPr id="6" name="Text 4"/>
          <p:cNvSpPr txBox="1"/>
          <p:nvPr/>
        </p:nvSpPr>
        <p:spPr>
          <a:xfrm>
            <a:off x="8503920" y="1051560"/>
            <a:ext cx="3017520" cy="320040"/>
          </a:xfrm>
          <a:prstGeom prst="rect">
            <a:avLst/>
          </a:prstGeom>
          <a:noFill/>
          <a:ln/>
        </p:spPr>
        <p:txBody>
          <a:bodyPr wrap="square" lIns="0" tIns="0" rIns="0" bIns="0" rtlCol="0" anchor="ctr"/>
          <a:lstStyle/>
          <a:p>
            <a:pPr indent="0" marL="0">
              <a:buNone/>
            </a:pPr>
            <a:r>
              <a:rPr lang="en-US" sz="1400" dirty="0">
                <a:solidFill>
                  <a:schemeClr val="accent6"/>
                </a:solidFill>
                <a:latin typeface="Malgun Gothic" pitchFamily="34" charset="0"/>
                <a:ea typeface="Malgun Gothic" pitchFamily="34" charset="-122"/>
                <a:cs typeface="Malgun Gothic" pitchFamily="34" charset="-120"/>
              </a:rPr>
              <a:t>예시: 경고 2 / 3</a:t>
            </a:r>
            <a:endParaRPr lang="en-US" sz="1400" dirty="0"/>
          </a:p>
        </p:txBody>
      </p:sp>
      <p:graphicFrame>
        <p:nvGraphicFramePr>
          <p:cNvPr id="6" name="warning-table"/>
          <p:cNvGraphicFramePr>
            <a:graphicFrameLocks noGrp="1"/>
          </p:cNvGraphicFramePr>
          <p:nvPr>
            <p:extLst>
              <p:ext uri="{D42A27DB-BD31-4B8C-83A1-F6EECF244321}">
                <p14:modId xmlns:p14="http://schemas.microsoft.com/office/powerpoint/2010/main" val="1579011935"/>
              </p:ext>
            </p:extLst>
          </p:nvPr>
        </p:nvGraphicFramePr>
        <p:xfrm>
          <a:off x="640080" y="1828800"/>
          <a:ext cx="10908792" cy="914400"/>
        </p:xfrm>
        <a:graphic>
          <a:graphicData uri="http://schemas.openxmlformats.org/drawingml/2006/table">
            <a:tbl>
              <a:tblPr/>
              <a:tblGrid>
                <a:gridCol w="3291840"/>
                <a:gridCol w="7616952"/>
              </a:tblGrid>
              <a:tr h="411480">
                <a:tc>
                  <a:txBody>
                    <a:bodyPr/>
                    <a:lstStyle/>
                    <a:p>
                      <a:pPr indent="0" marL="0">
                        <a:buNone/>
                      </a:pPr>
                      <a:r>
                        <a:rPr lang="en-US" sz="1400" b="1" dirty="0">
                          <a:solidFill>
                            <a:schemeClr val="accent6"/>
                          </a:solidFill>
                          <a:latin typeface="Malgun Gothic" pitchFamily="34" charset="0"/>
                          <a:ea typeface="Malgun Gothic" pitchFamily="34" charset="-122"/>
                          <a:cs typeface="Malgun Gothic" pitchFamily="34" charset="-120"/>
                        </a:rPr>
                        <a:t>상황</a:t>
                      </a:r>
                      <a:endParaRPr lang="en-US" sz="1400" dirty="0">
                        <a:latin typeface="Malgun Gothic" charset="0"/>
                        <a:ea typeface="Malgun Gothic" charset="0"/>
                        <a:cs typeface="Malgun Gothic" charset="0"/>
                      </a:endParaRPr>
                    </a:p>
                  </a:txBody>
                  <a:tcPr marL="109728" marR="109728" marT="45720" marB="45720">
                    <a:lnL w="0" cap="flat" cmpd="sng" algn="ctr">
                      <a:noFill/>
                    </a:lnL>
                    <a:lnR w="0" cap="flat" cmpd="sng" algn="ctr">
                      <a:noFill/>
                    </a:lnR>
                    <a:lnT w="0" cap="flat" cmpd="sng" algn="ctr">
                      <a:noFill/>
                    </a:lnT>
                    <a:lnB w="12700" cap="flat" cmpd="sng" algn="ctr">
                      <a:solidFill>
                        <a:srgbClr val="DDE4DE"/>
                      </a:solidFill>
                      <a:prstDash val="solid"/>
                      <a:round/>
                      <a:headEnd type="none" w="med" len="med"/>
                      <a:tailEnd type="none" w="med" len="med"/>
                    </a:lnB>
                  </a:tcPr>
                </a:tc>
                <a:tc>
                  <a:txBody>
                    <a:bodyPr/>
                    <a:lstStyle/>
                    <a:p>
                      <a:pPr indent="0" marL="0">
                        <a:buNone/>
                      </a:pPr>
                      <a:r>
                        <a:rPr lang="en-US" sz="1400" b="1" dirty="0">
                          <a:solidFill>
                            <a:schemeClr val="accent6"/>
                          </a:solidFill>
                          <a:latin typeface="Malgun Gothic" pitchFamily="34" charset="0"/>
                          <a:ea typeface="Malgun Gothic" pitchFamily="34" charset="-122"/>
                          <a:cs typeface="Malgun Gothic" pitchFamily="34" charset="-120"/>
                        </a:rPr>
                        <a:t>결과</a:t>
                      </a:r>
                      <a:endParaRPr lang="en-US" sz="1400" dirty="0">
                        <a:latin typeface="Malgun Gothic" charset="0"/>
                        <a:ea typeface="Malgun Gothic" charset="0"/>
                        <a:cs typeface="Malgun Gothic" charset="0"/>
                      </a:endParaRPr>
                    </a:p>
                  </a:txBody>
                  <a:tcPr marL="109728" marR="109728" marT="45720" marB="45720">
                    <a:lnL w="0" cap="flat" cmpd="sng" algn="ctr">
                      <a:noFill/>
                    </a:lnL>
                    <a:lnR w="0" cap="flat" cmpd="sng" algn="ctr">
                      <a:noFill/>
                    </a:lnR>
                    <a:lnT w="0" cap="flat" cmpd="sng" algn="ctr">
                      <a:noFill/>
                    </a:lnT>
                    <a:lnB w="12700" cap="flat" cmpd="sng" algn="ctr">
                      <a:solidFill>
                        <a:srgbClr val="DDE4DE"/>
                      </a:solidFill>
                      <a:prstDash val="solid"/>
                      <a:round/>
                      <a:headEnd type="none" w="med" len="med"/>
                      <a:tailEnd type="none" w="med" len="med"/>
                    </a:lnB>
                  </a:tcPr>
                </a:tc>
              </a:tr>
              <a:tr h="731520">
                <a:tc>
                  <a:txBody>
                    <a:bodyPr/>
                    <a:lstStyle/>
                    <a:p>
                      <a:pPr indent="0" marL="0">
                        <a:buNone/>
                      </a:pPr>
                      <a:r>
                        <a:rPr lang="en-US" sz="1800" b="1" dirty="0">
                          <a:solidFill>
                            <a:schemeClr val="tx1"/>
                          </a:solidFill>
                          <a:latin typeface="Malgun Gothic" pitchFamily="34" charset="0"/>
                          <a:ea typeface="Malgun Gothic" pitchFamily="34" charset="-122"/>
                          <a:cs typeface="Malgun Gothic" pitchFamily="34" charset="-120"/>
                        </a:rPr>
                        <a:t>미달한 주</a:t>
                      </a:r>
                      <a:endParaRPr lang="en-US" sz="18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DDE4DE"/>
                      </a:solidFill>
                      <a:prstDash val="solid"/>
                      <a:round/>
                      <a:headEnd type="none" w="med" len="med"/>
                      <a:tailEnd type="none" w="med" len="med"/>
                    </a:lnB>
                  </a:tcPr>
                </a:tc>
                <a:tc>
                  <a:txBody>
                    <a:bodyPr/>
                    <a:lstStyle/>
                    <a:p>
                      <a:pPr indent="0" marL="0">
                        <a:buNone/>
                      </a:pPr>
                      <a:r>
                        <a:rPr lang="en-US" sz="1800" dirty="0">
                          <a:solidFill>
                            <a:schemeClr val="tx1"/>
                          </a:solidFill>
                          <a:latin typeface="Malgun Gothic" pitchFamily="34" charset="0"/>
                          <a:ea typeface="Malgun Gothic" pitchFamily="34" charset="-122"/>
                          <a:cs typeface="Malgun Gothic" pitchFamily="34" charset="-120"/>
                        </a:rPr>
                        <a:t>경고가 1개 늘어요.</a:t>
                      </a:r>
                      <a:endParaRPr lang="en-US" sz="18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DDE4DE"/>
                      </a:solidFill>
                      <a:prstDash val="solid"/>
                      <a:round/>
                      <a:headEnd type="none" w="med" len="med"/>
                      <a:tailEnd type="none" w="med" len="med"/>
                    </a:lnB>
                  </a:tcPr>
                </a:tc>
              </a:tr>
              <a:tr h="731520">
                <a:tc>
                  <a:txBody>
                    <a:bodyPr/>
                    <a:lstStyle/>
                    <a:p>
                      <a:pPr indent="0" marL="0">
                        <a:buNone/>
                      </a:pPr>
                      <a:r>
                        <a:rPr lang="en-US" sz="1800" b="1" dirty="0">
                          <a:solidFill>
                            <a:schemeClr val="tx1"/>
                          </a:solidFill>
                          <a:latin typeface="Malgun Gothic" pitchFamily="34" charset="0"/>
                          <a:ea typeface="Malgun Gothic" pitchFamily="34" charset="-122"/>
                          <a:cs typeface="Malgun Gothic" pitchFamily="34" charset="-120"/>
                        </a:rPr>
                        <a:t>2주 연속 통과</a:t>
                      </a:r>
                      <a:endParaRPr lang="en-US" sz="18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DDE4DE"/>
                      </a:solidFill>
                      <a:prstDash val="solid"/>
                      <a:round/>
                      <a:headEnd type="none" w="med" len="med"/>
                      <a:tailEnd type="none" w="med" len="med"/>
                    </a:lnB>
                  </a:tcPr>
                </a:tc>
                <a:tc>
                  <a:txBody>
                    <a:bodyPr/>
                    <a:lstStyle/>
                    <a:p>
                      <a:pPr indent="0" marL="0">
                        <a:buNone/>
                      </a:pPr>
                      <a:r>
                        <a:rPr lang="en-US" sz="1800" dirty="0">
                          <a:solidFill>
                            <a:schemeClr val="tx1"/>
                          </a:solidFill>
                          <a:latin typeface="Malgun Gothic" pitchFamily="34" charset="0"/>
                          <a:ea typeface="Malgun Gothic" pitchFamily="34" charset="-122"/>
                          <a:cs typeface="Malgun Gothic" pitchFamily="34" charset="-120"/>
                        </a:rPr>
                        <a:t>경고가 1개 줄고, 연속 횟수는 0으로 돌아가요.</a:t>
                      </a:r>
                      <a:endParaRPr lang="en-US" sz="18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DDE4DE"/>
                      </a:solidFill>
                      <a:prstDash val="solid"/>
                      <a:round/>
                      <a:headEnd type="none" w="med" len="med"/>
                      <a:tailEnd type="none" w="med" len="med"/>
                    </a:lnB>
                  </a:tcPr>
                </a:tc>
              </a:tr>
              <a:tr h="731520">
                <a:tc>
                  <a:txBody>
                    <a:bodyPr/>
                    <a:lstStyle/>
                    <a:p>
                      <a:pPr indent="0" marL="0">
                        <a:buNone/>
                      </a:pPr>
                      <a:r>
                        <a:rPr lang="en-US" sz="1800" b="1" dirty="0">
                          <a:solidFill>
                            <a:schemeClr val="tx1"/>
                          </a:solidFill>
                          <a:latin typeface="Malgun Gothic" pitchFamily="34" charset="0"/>
                          <a:ea typeface="Malgun Gothic" pitchFamily="34" charset="-122"/>
                          <a:cs typeface="Malgun Gothic" pitchFamily="34" charset="-120"/>
                        </a:rPr>
                        <a:t>경고 3개</a:t>
                      </a:r>
                      <a:endParaRPr lang="en-US" sz="18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DDE4DE"/>
                      </a:solidFill>
                      <a:prstDash val="solid"/>
                      <a:round/>
                      <a:headEnd type="none" w="med" len="med"/>
                      <a:tailEnd type="none" w="med" len="med"/>
                    </a:lnB>
                  </a:tcPr>
                </a:tc>
                <a:tc>
                  <a:txBody>
                    <a:bodyPr/>
                    <a:lstStyle/>
                    <a:p>
                      <a:pPr indent="0" marL="0">
                        <a:buNone/>
                      </a:pPr>
                      <a:r>
                        <a:rPr lang="en-US" sz="1800" dirty="0">
                          <a:solidFill>
                            <a:schemeClr val="tx1"/>
                          </a:solidFill>
                          <a:latin typeface="Malgun Gothic" pitchFamily="34" charset="0"/>
                          <a:ea typeface="Malgun Gothic" pitchFamily="34" charset="-122"/>
                          <a:cs typeface="Malgun Gothic" pitchFamily="34" charset="-120"/>
                        </a:rPr>
                        <a:t>벌칙 대상이 돼요. 이때는 연속 통과해도 경고가 줄지 않아요.</a:t>
                      </a:r>
                      <a:endParaRPr lang="en-US" sz="18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DDE4DE"/>
                      </a:solidFill>
                      <a:prstDash val="solid"/>
                      <a:round/>
                      <a:headEnd type="none" w="med" len="med"/>
                      <a:tailEnd type="none" w="med" len="med"/>
                    </a:lnB>
                  </a:tcPr>
                </a:tc>
              </a:tr>
              <a:tr h="731520">
                <a:tc>
                  <a:txBody>
                    <a:bodyPr/>
                    <a:lstStyle/>
                    <a:p>
                      <a:pPr indent="0" marL="0">
                        <a:buNone/>
                      </a:pPr>
                      <a:r>
                        <a:rPr lang="en-US" sz="1800" b="1" dirty="0">
                          <a:solidFill>
                            <a:schemeClr val="tx1"/>
                          </a:solidFill>
                          <a:latin typeface="Malgun Gothic" pitchFamily="34" charset="0"/>
                          <a:ea typeface="Malgun Gothic" pitchFamily="34" charset="-122"/>
                          <a:cs typeface="Malgun Gothic" pitchFamily="34" charset="-120"/>
                        </a:rPr>
                        <a:t>팀에서 내보내졌을 때</a:t>
                      </a:r>
                      <a:endParaRPr lang="en-US" sz="18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DDE4DE"/>
                      </a:solidFill>
                      <a:prstDash val="solid"/>
                      <a:round/>
                      <a:headEnd type="none" w="med" len="med"/>
                      <a:tailEnd type="none" w="med" len="med"/>
                    </a:lnB>
                  </a:tcPr>
                </a:tc>
                <a:tc>
                  <a:txBody>
                    <a:bodyPr/>
                    <a:lstStyle/>
                    <a:p>
                      <a:pPr indent="0" marL="0">
                        <a:buNone/>
                      </a:pPr>
                      <a:r>
                        <a:rPr lang="en-US" sz="1800" dirty="0">
                          <a:solidFill>
                            <a:schemeClr val="tx1"/>
                          </a:solidFill>
                          <a:latin typeface="Malgun Gothic" pitchFamily="34" charset="0"/>
                          <a:ea typeface="Malgun Gothic" pitchFamily="34" charset="-122"/>
                          <a:cs typeface="Malgun Gothic" pitchFamily="34" charset="-120"/>
                        </a:rPr>
                        <a:t>그 팀에서 받은 경고는 삭제 표시가 되고, 관리자가 복구할 수 있어요.</a:t>
                      </a:r>
                      <a:endParaRPr lang="en-US" sz="18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DDE4D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C77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08792" cy="1005840"/>
          </a:xfrm>
          <a:prstGeom prst="rect">
            <a:avLst/>
          </a:prstGeom>
          <a:noFill/>
          <a:ln/>
        </p:spPr>
        <p:txBody>
          <a:bodyPr wrap="square" rtlCol="0" anchor="t"/>
          <a:lstStyle/>
          <a:p>
            <a:pPr algn="l" indent="0" marL="0">
              <a:buNone/>
            </a:pPr>
            <a:r>
              <a:rPr lang="en-US" sz="3600" b="1" dirty="0">
                <a:solidFill>
                  <a:schemeClr val="tx1"/>
                </a:solidFill>
              </a:rPr>
              <a:t>쓰는 사람은 세 종류예요</a:t>
            </a:r>
            <a:endParaRPr lang="en-US" sz="3600" dirty="0"/>
          </a:p>
        </p:txBody>
      </p:sp>
      <p:sp>
        <p:nvSpPr>
          <p:cNvPr id="3" name="role-1"/>
          <p:cNvSpPr/>
          <p:nvPr/>
        </p:nvSpPr>
        <p:spPr>
          <a:xfrm>
            <a:off x="640080" y="1828800"/>
            <a:ext cx="3392424" cy="3108960"/>
          </a:xfrm>
          <a:prstGeom prst="roundRect">
            <a:avLst>
              <a:gd name="adj" fmla="val 3529"/>
            </a:avLst>
          </a:prstGeom>
          <a:solidFill>
            <a:schemeClr val="bg2"/>
          </a:solidFill>
          <a:ln w="15875">
            <a:solidFill>
              <a:schemeClr val="accent5"/>
            </a:solidFill>
            <a:prstDash val="solid"/>
          </a:ln>
        </p:spPr>
      </p:sp>
      <p:sp>
        <p:nvSpPr>
          <p:cNvPr id="4" name="Text 2"/>
          <p:cNvSpPr txBox="1"/>
          <p:nvPr/>
        </p:nvSpPr>
        <p:spPr>
          <a:xfrm>
            <a:off x="960120" y="2103120"/>
            <a:ext cx="2752344" cy="548640"/>
          </a:xfrm>
          <a:prstGeom prst="rect">
            <a:avLst/>
          </a:prstGeom>
          <a:noFill/>
          <a:ln/>
        </p:spPr>
        <p:txBody>
          <a:bodyPr wrap="square" lIns="0" tIns="0" rIns="0" bIns="0" rtlCol="0" anchor="ctr"/>
          <a:lstStyle/>
          <a:p>
            <a:pPr indent="0" marL="0">
              <a:buNone/>
            </a:pPr>
            <a:r>
              <a:rPr lang="en-US" sz="2800" b="1" dirty="0">
                <a:solidFill>
                  <a:schemeClr val="tx1"/>
                </a:solidFill>
                <a:latin typeface="Malgun Gothic" pitchFamily="34" charset="0"/>
                <a:ea typeface="Malgun Gothic" pitchFamily="34" charset="-122"/>
                <a:cs typeface="Malgun Gothic" pitchFamily="34" charset="-120"/>
              </a:rPr>
              <a:t>회원</a:t>
            </a:r>
            <a:endParaRPr lang="en-US" sz="2800" dirty="0"/>
          </a:p>
        </p:txBody>
      </p:sp>
      <p:sp>
        <p:nvSpPr>
          <p:cNvPr id="5" name="Text 3"/>
          <p:cNvSpPr txBox="1"/>
          <p:nvPr/>
        </p:nvSpPr>
        <p:spPr>
          <a:xfrm>
            <a:off x="960120" y="2834640"/>
            <a:ext cx="2752344" cy="1920240"/>
          </a:xfrm>
          <a:prstGeom prst="rect">
            <a:avLst/>
          </a:prstGeom>
          <a:noFill/>
          <a:ln/>
        </p:spPr>
        <p:txBody>
          <a:bodyPr wrap="square" lIns="0" tIns="0" rIns="0" bIns="0" rtlCol="0" anchor="t"/>
          <a:lstStyle/>
          <a:p>
            <a:pPr indent="0" marL="0">
              <a:buNone/>
            </a:pPr>
            <a:r>
              <a:rPr lang="en-US" sz="1600" dirty="0">
                <a:solidFill>
                  <a:schemeClr val="accent6"/>
                </a:solidFill>
                <a:latin typeface="Malgun Gothic" pitchFamily="34" charset="0"/>
                <a:ea typeface="Malgun Gothic" pitchFamily="34" charset="-122"/>
                <a:cs typeface="Malgun Gothic" pitchFamily="34" charset="-120"/>
              </a:rPr>
              <a:t>GitHub로 로그인하면 바로 쓸 수 있어요. 내 주간 활동과 경고를 보고, 팀에 들어가고, 글을 써요.</a:t>
            </a:r>
            <a:endParaRPr lang="en-US" sz="1600" dirty="0"/>
          </a:p>
        </p:txBody>
      </p:sp>
      <p:sp>
        <p:nvSpPr>
          <p:cNvPr id="6" name="role-2"/>
          <p:cNvSpPr/>
          <p:nvPr/>
        </p:nvSpPr>
        <p:spPr>
          <a:xfrm>
            <a:off x="4398264" y="1828800"/>
            <a:ext cx="3392424" cy="3108960"/>
          </a:xfrm>
          <a:prstGeom prst="roundRect">
            <a:avLst>
              <a:gd name="adj" fmla="val 3529"/>
            </a:avLst>
          </a:prstGeom>
          <a:solidFill>
            <a:schemeClr val="bg2"/>
          </a:solidFill>
          <a:ln w="15875">
            <a:solidFill>
              <a:schemeClr val="accent5"/>
            </a:solidFill>
            <a:prstDash val="solid"/>
          </a:ln>
        </p:spPr>
      </p:sp>
      <p:sp>
        <p:nvSpPr>
          <p:cNvPr id="7" name="Text 5"/>
          <p:cNvSpPr txBox="1"/>
          <p:nvPr/>
        </p:nvSpPr>
        <p:spPr>
          <a:xfrm>
            <a:off x="4718304" y="2103120"/>
            <a:ext cx="2752344" cy="548640"/>
          </a:xfrm>
          <a:prstGeom prst="rect">
            <a:avLst/>
          </a:prstGeom>
          <a:noFill/>
          <a:ln/>
        </p:spPr>
        <p:txBody>
          <a:bodyPr wrap="square" lIns="0" tIns="0" rIns="0" bIns="0" rtlCol="0" anchor="ctr"/>
          <a:lstStyle/>
          <a:p>
            <a:pPr indent="0" marL="0">
              <a:buNone/>
            </a:pPr>
            <a:r>
              <a:rPr lang="en-US" sz="2800" b="1" dirty="0">
                <a:solidFill>
                  <a:schemeClr val="tx1"/>
                </a:solidFill>
                <a:latin typeface="Malgun Gothic" pitchFamily="34" charset="0"/>
                <a:ea typeface="Malgun Gothic" pitchFamily="34" charset="-122"/>
                <a:cs typeface="Malgun Gothic" pitchFamily="34" charset="-120"/>
              </a:rPr>
              <a:t>팀장</a:t>
            </a:r>
            <a:endParaRPr lang="en-US" sz="2800" dirty="0"/>
          </a:p>
        </p:txBody>
      </p:sp>
      <p:sp>
        <p:nvSpPr>
          <p:cNvPr id="8" name="Text 6"/>
          <p:cNvSpPr txBox="1"/>
          <p:nvPr/>
        </p:nvSpPr>
        <p:spPr>
          <a:xfrm>
            <a:off x="4718304" y="2834640"/>
            <a:ext cx="2752344" cy="1920240"/>
          </a:xfrm>
          <a:prstGeom prst="rect">
            <a:avLst/>
          </a:prstGeom>
          <a:noFill/>
          <a:ln/>
        </p:spPr>
        <p:txBody>
          <a:bodyPr wrap="square" lIns="0" tIns="0" rIns="0" bIns="0" rtlCol="0" anchor="t"/>
          <a:lstStyle/>
          <a:p>
            <a:pPr indent="0" marL="0">
              <a:buNone/>
            </a:pPr>
            <a:r>
              <a:rPr lang="en-US" sz="1600" dirty="0">
                <a:solidFill>
                  <a:schemeClr val="accent6"/>
                </a:solidFill>
                <a:latin typeface="Malgun Gothic" pitchFamily="34" charset="0"/>
                <a:ea typeface="Malgun Gothic" pitchFamily="34" charset="-122"/>
                <a:cs typeface="Malgun Gothic" pitchFamily="34" charset="-120"/>
              </a:rPr>
              <a:t>팀을 만들고 초대코드를 나눠 줘요. 팀원을 초대하거나 내보내고, 팀을 공개·비공개로 바꿔요.</a:t>
            </a:r>
            <a:endParaRPr lang="en-US" sz="1600" dirty="0"/>
          </a:p>
        </p:txBody>
      </p:sp>
      <p:sp>
        <p:nvSpPr>
          <p:cNvPr id="9" name="role-admin"/>
          <p:cNvSpPr/>
          <p:nvPr/>
        </p:nvSpPr>
        <p:spPr>
          <a:xfrm>
            <a:off x="8156448" y="1828800"/>
            <a:ext cx="3392424" cy="3108960"/>
          </a:xfrm>
          <a:prstGeom prst="roundRect">
            <a:avLst>
              <a:gd name="adj" fmla="val 3529"/>
            </a:avLst>
          </a:prstGeom>
          <a:solidFill>
            <a:schemeClr val="accent1"/>
          </a:solidFill>
          <a:ln w="12700">
            <a:solidFill>
              <a:schemeClr val="accent1"/>
            </a:solidFill>
            <a:prstDash val="solid"/>
          </a:ln>
        </p:spPr>
      </p:sp>
      <p:sp>
        <p:nvSpPr>
          <p:cNvPr id="10" name="Text 8"/>
          <p:cNvSpPr txBox="1"/>
          <p:nvPr/>
        </p:nvSpPr>
        <p:spPr>
          <a:xfrm>
            <a:off x="8476488" y="2103120"/>
            <a:ext cx="2752344" cy="548640"/>
          </a:xfrm>
          <a:prstGeom prst="rect">
            <a:avLst/>
          </a:prstGeom>
          <a:noFill/>
          <a:ln/>
        </p:spPr>
        <p:txBody>
          <a:bodyPr wrap="square" lIns="0" tIns="0" rIns="0" bIns="0" rtlCol="0" anchor="ctr"/>
          <a:lstStyle/>
          <a:p>
            <a:pPr indent="0" marL="0">
              <a:buNone/>
            </a:pPr>
            <a:r>
              <a:rPr lang="en-US" sz="2800" b="1" dirty="0">
                <a:solidFill>
                  <a:schemeClr val="bg1"/>
                </a:solidFill>
                <a:latin typeface="Malgun Gothic" pitchFamily="34" charset="0"/>
                <a:ea typeface="Malgun Gothic" pitchFamily="34" charset="-122"/>
                <a:cs typeface="Malgun Gothic" pitchFamily="34" charset="-120"/>
              </a:rPr>
              <a:t>관리자</a:t>
            </a:r>
            <a:endParaRPr lang="en-US" sz="2800" dirty="0"/>
          </a:p>
        </p:txBody>
      </p:sp>
      <p:sp>
        <p:nvSpPr>
          <p:cNvPr id="11" name="Text 9"/>
          <p:cNvSpPr txBox="1"/>
          <p:nvPr/>
        </p:nvSpPr>
        <p:spPr>
          <a:xfrm>
            <a:off x="8476488" y="2834640"/>
            <a:ext cx="2752344" cy="1920240"/>
          </a:xfrm>
          <a:prstGeom prst="rect">
            <a:avLst/>
          </a:prstGeom>
          <a:noFill/>
          <a:ln/>
        </p:spPr>
        <p:txBody>
          <a:bodyPr wrap="square" lIns="0" tIns="0" rIns="0" bIns="0" rtlCol="0" anchor="t"/>
          <a:lstStyle/>
          <a:p>
            <a:pPr indent="0" marL="0">
              <a:buNone/>
            </a:pPr>
            <a:r>
              <a:rPr lang="en-US" sz="1600" dirty="0">
                <a:solidFill>
                  <a:srgbClr val="E3F1E8"/>
                </a:solidFill>
                <a:latin typeface="Malgun Gothic" pitchFamily="34" charset="0"/>
                <a:ea typeface="Malgun Gothic" pitchFamily="34" charset="-122"/>
                <a:cs typeface="Malgun Gothic" pitchFamily="34" charset="-120"/>
              </a:rPr>
              <a:t>공지를 쓰고, 벌칙 이행을 확인하고, 판정을 바로잡아요. 일반 회원을 관리자로 올리는 일도 현재 관리자만 해요.</a:t>
            </a:r>
            <a:endParaRPr lang="en-US" sz="1600" dirty="0"/>
          </a:p>
        </p:txBody>
      </p:sp>
      <p:sp>
        <p:nvSpPr>
          <p:cNvPr id="12" name="Text 10"/>
          <p:cNvSpPr txBox="1"/>
          <p:nvPr/>
        </p:nvSpPr>
        <p:spPr>
          <a:xfrm>
            <a:off x="640080" y="5394960"/>
            <a:ext cx="10908792" cy="457200"/>
          </a:xfrm>
          <a:prstGeom prst="rect">
            <a:avLst/>
          </a:prstGeom>
          <a:noFill/>
          <a:ln/>
        </p:spPr>
        <p:txBody>
          <a:bodyPr wrap="square" lIns="0" tIns="0" rIns="0" bIns="0" rtlCol="0" anchor="ctr"/>
          <a:lstStyle/>
          <a:p>
            <a:pPr indent="0" marL="0">
              <a:buNone/>
            </a:pPr>
            <a:r>
              <a:rPr lang="en-US" sz="2000" dirty="0">
                <a:solidFill>
                  <a:schemeClr val="accent6"/>
                </a:solidFill>
                <a:latin typeface="Malgun Gothic" pitchFamily="34" charset="0"/>
                <a:ea typeface="Malgun Gothic" pitchFamily="34" charset="-122"/>
                <a:cs typeface="Malgun Gothic" pitchFamily="34" charset="-120"/>
              </a:rPr>
              <a:t>가입은 승인 없이 로그인하는 순간부터 바로 시작돼요.</a:t>
            </a:r>
            <a:endParaRPr lang="en-US" sz="20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C77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08792" cy="1005840"/>
          </a:xfrm>
          <a:prstGeom prst="rect">
            <a:avLst/>
          </a:prstGeom>
          <a:noFill/>
          <a:ln/>
        </p:spPr>
        <p:txBody>
          <a:bodyPr wrap="square" rtlCol="0" anchor="t"/>
          <a:lstStyle/>
          <a:p>
            <a:pPr algn="l" indent="0" marL="0">
              <a:buNone/>
            </a:pPr>
            <a:r>
              <a:rPr lang="en-US" sz="3600" b="1" dirty="0">
                <a:solidFill>
                  <a:schemeClr val="bg1"/>
                </a:solidFill>
              </a:rPr>
              <a:t>식당처럼 나누면 구조가 쉬워져요</a:t>
            </a:r>
            <a:endParaRPr lang="en-US" sz="3600" dirty="0"/>
          </a:p>
        </p:txBody>
      </p:sp>
      <p:sp>
        <p:nvSpPr>
          <p:cNvPr id="3" name="arch-card-1"/>
          <p:cNvSpPr/>
          <p:nvPr/>
        </p:nvSpPr>
        <p:spPr>
          <a:xfrm>
            <a:off x="640080" y="1783080"/>
            <a:ext cx="2904744" cy="2743200"/>
          </a:xfrm>
          <a:prstGeom prst="roundRect">
            <a:avLst>
              <a:gd name="adj" fmla="val 4000"/>
            </a:avLst>
          </a:prstGeom>
          <a:solidFill>
            <a:srgbClr val="1B3526"/>
          </a:solidFill>
          <a:ln w="12700">
            <a:solidFill>
              <a:srgbClr val="1B3526"/>
            </a:solidFill>
            <a:prstDash val="solid"/>
          </a:ln>
        </p:spPr>
      </p:sp>
      <p:sp>
        <p:nvSpPr>
          <p:cNvPr id="4" name="Text 2"/>
          <p:cNvSpPr txBox="1"/>
          <p:nvPr/>
        </p:nvSpPr>
        <p:spPr>
          <a:xfrm>
            <a:off x="914400" y="2011680"/>
            <a:ext cx="2356104" cy="365760"/>
          </a:xfrm>
          <a:prstGeom prst="rect">
            <a:avLst/>
          </a:prstGeom>
          <a:noFill/>
          <a:ln/>
        </p:spPr>
        <p:txBody>
          <a:bodyPr wrap="square" lIns="0" tIns="0" rIns="0" bIns="0" rtlCol="0" anchor="ctr"/>
          <a:lstStyle/>
          <a:p>
            <a:pPr indent="0" marL="0">
              <a:buNone/>
            </a:pPr>
            <a:r>
              <a:rPr lang="en-US" sz="1600" b="1" dirty="0">
                <a:solidFill>
                  <a:schemeClr val="accent2"/>
                </a:solidFill>
                <a:latin typeface="Malgun Gothic" pitchFamily="34" charset="0"/>
                <a:ea typeface="Malgun Gothic" pitchFamily="34" charset="-122"/>
                <a:cs typeface="Malgun Gothic" pitchFamily="34" charset="-120"/>
              </a:rPr>
              <a:t>홀, 화면</a:t>
            </a:r>
            <a:endParaRPr lang="en-US" sz="1600" dirty="0"/>
          </a:p>
        </p:txBody>
      </p:sp>
      <p:sp>
        <p:nvSpPr>
          <p:cNvPr id="5" name="Text 3"/>
          <p:cNvSpPr txBox="1"/>
          <p:nvPr/>
        </p:nvSpPr>
        <p:spPr>
          <a:xfrm>
            <a:off x="914400" y="2468880"/>
            <a:ext cx="2356104" cy="640080"/>
          </a:xfrm>
          <a:prstGeom prst="rect">
            <a:avLst/>
          </a:prstGeom>
          <a:noFill/>
          <a:ln/>
        </p:spPr>
        <p:txBody>
          <a:bodyPr wrap="square" lIns="0" tIns="0" rIns="0" bIns="0" rtlCol="0" anchor="t"/>
          <a:lstStyle/>
          <a:p>
            <a:pPr indent="0" marL="0">
              <a:buNone/>
            </a:pPr>
            <a:r>
              <a:rPr lang="en-US" sz="2000" b="1" dirty="0">
                <a:solidFill>
                  <a:schemeClr val="bg1"/>
                </a:solidFill>
                <a:latin typeface="Malgun Gothic" pitchFamily="34" charset="0"/>
                <a:ea typeface="Malgun Gothic" pitchFamily="34" charset="-122"/>
                <a:cs typeface="Malgun Gothic" pitchFamily="34" charset="-120"/>
              </a:rPr>
              <a:t>브라우저에 보이는 모든 것</a:t>
            </a:r>
            <a:endParaRPr lang="en-US" sz="2000" dirty="0"/>
          </a:p>
        </p:txBody>
      </p:sp>
      <p:sp>
        <p:nvSpPr>
          <p:cNvPr id="6" name="Text 4"/>
          <p:cNvSpPr txBox="1"/>
          <p:nvPr/>
        </p:nvSpPr>
        <p:spPr>
          <a:xfrm>
            <a:off x="914400" y="3200400"/>
            <a:ext cx="2356104" cy="1188720"/>
          </a:xfrm>
          <a:prstGeom prst="rect">
            <a:avLst/>
          </a:prstGeom>
          <a:noFill/>
          <a:ln/>
        </p:spPr>
        <p:txBody>
          <a:bodyPr wrap="square" lIns="0" tIns="0" rIns="0" bIns="0" rtlCol="0" anchor="t"/>
          <a:lstStyle/>
          <a:p>
            <a:pPr indent="0" marL="0">
              <a:buNone/>
            </a:pPr>
            <a:r>
              <a:rPr lang="en-US" sz="1400" dirty="0">
                <a:solidFill>
                  <a:srgbClr val="DBE7DE"/>
                </a:solidFill>
                <a:latin typeface="Malgun Gothic" pitchFamily="34" charset="0"/>
                <a:ea typeface="Malgun Gothic" pitchFamily="34" charset="-122"/>
                <a:cs typeface="Malgun Gothic" pitchFamily="34" charset="-120"/>
              </a:rPr>
              <a:t>홈, 프로필, 게시판, 관리자 화면. React로 만들었어요.</a:t>
            </a:r>
            <a:endParaRPr lang="en-US" sz="1400" dirty="0"/>
          </a:p>
        </p:txBody>
      </p:sp>
      <p:sp>
        <p:nvSpPr>
          <p:cNvPr id="7" name="arrow-1"/>
          <p:cNvSpPr/>
          <p:nvPr/>
        </p:nvSpPr>
        <p:spPr>
          <a:xfrm>
            <a:off x="3800856" y="2926080"/>
            <a:ext cx="585216" cy="411480"/>
          </a:xfrm>
          <a:prstGeom prst="rightArrow">
            <a:avLst/>
          </a:prstGeom>
          <a:solidFill>
            <a:schemeClr val="accent2"/>
          </a:solidFill>
          <a:ln w="12700">
            <a:solidFill>
              <a:schemeClr val="accent2"/>
            </a:solidFill>
            <a:prstDash val="solid"/>
          </a:ln>
        </p:spPr>
      </p:sp>
      <p:sp>
        <p:nvSpPr>
          <p:cNvPr id="8" name="arch-card-2"/>
          <p:cNvSpPr/>
          <p:nvPr/>
        </p:nvSpPr>
        <p:spPr>
          <a:xfrm>
            <a:off x="4642104" y="1783080"/>
            <a:ext cx="2904744" cy="2743200"/>
          </a:xfrm>
          <a:prstGeom prst="roundRect">
            <a:avLst>
              <a:gd name="adj" fmla="val 4000"/>
            </a:avLst>
          </a:prstGeom>
          <a:solidFill>
            <a:srgbClr val="1B3526"/>
          </a:solidFill>
          <a:ln w="12700">
            <a:solidFill>
              <a:srgbClr val="1B3526"/>
            </a:solidFill>
            <a:prstDash val="solid"/>
          </a:ln>
        </p:spPr>
      </p:sp>
      <p:sp>
        <p:nvSpPr>
          <p:cNvPr id="9" name="Text 7"/>
          <p:cNvSpPr txBox="1"/>
          <p:nvPr/>
        </p:nvSpPr>
        <p:spPr>
          <a:xfrm>
            <a:off x="4916424" y="2011680"/>
            <a:ext cx="2356104" cy="365760"/>
          </a:xfrm>
          <a:prstGeom prst="rect">
            <a:avLst/>
          </a:prstGeom>
          <a:noFill/>
          <a:ln/>
        </p:spPr>
        <p:txBody>
          <a:bodyPr wrap="square" lIns="0" tIns="0" rIns="0" bIns="0" rtlCol="0" anchor="ctr"/>
          <a:lstStyle/>
          <a:p>
            <a:pPr indent="0" marL="0">
              <a:buNone/>
            </a:pPr>
            <a:r>
              <a:rPr lang="en-US" sz="1600" b="1" dirty="0">
                <a:solidFill>
                  <a:schemeClr val="accent2"/>
                </a:solidFill>
                <a:latin typeface="Malgun Gothic" pitchFamily="34" charset="0"/>
                <a:ea typeface="Malgun Gothic" pitchFamily="34" charset="-122"/>
                <a:cs typeface="Malgun Gothic" pitchFamily="34" charset="-120"/>
              </a:rPr>
              <a:t>주방, 서버</a:t>
            </a:r>
            <a:endParaRPr lang="en-US" sz="1600" dirty="0"/>
          </a:p>
        </p:txBody>
      </p:sp>
      <p:sp>
        <p:nvSpPr>
          <p:cNvPr id="10" name="Text 8"/>
          <p:cNvSpPr txBox="1"/>
          <p:nvPr/>
        </p:nvSpPr>
        <p:spPr>
          <a:xfrm>
            <a:off x="4916424" y="2468880"/>
            <a:ext cx="2356104" cy="640080"/>
          </a:xfrm>
          <a:prstGeom prst="rect">
            <a:avLst/>
          </a:prstGeom>
          <a:noFill/>
          <a:ln/>
        </p:spPr>
        <p:txBody>
          <a:bodyPr wrap="square" lIns="0" tIns="0" rIns="0" bIns="0" rtlCol="0" anchor="t"/>
          <a:lstStyle/>
          <a:p>
            <a:pPr indent="0" marL="0">
              <a:buNone/>
            </a:pPr>
            <a:r>
              <a:rPr lang="en-US" sz="2000" b="1" dirty="0">
                <a:solidFill>
                  <a:schemeClr val="bg1"/>
                </a:solidFill>
                <a:latin typeface="Malgun Gothic" pitchFamily="34" charset="0"/>
                <a:ea typeface="Malgun Gothic" pitchFamily="34" charset="-122"/>
                <a:cs typeface="Malgun Gothic" pitchFamily="34" charset="-120"/>
              </a:rPr>
              <a:t>규칙을 지키는 곳</a:t>
            </a:r>
            <a:endParaRPr lang="en-US" sz="2000" dirty="0"/>
          </a:p>
        </p:txBody>
      </p:sp>
      <p:sp>
        <p:nvSpPr>
          <p:cNvPr id="11" name="Text 9"/>
          <p:cNvSpPr txBox="1"/>
          <p:nvPr/>
        </p:nvSpPr>
        <p:spPr>
          <a:xfrm>
            <a:off x="4916424" y="3200400"/>
            <a:ext cx="2356104" cy="1188720"/>
          </a:xfrm>
          <a:prstGeom prst="rect">
            <a:avLst/>
          </a:prstGeom>
          <a:noFill/>
          <a:ln/>
        </p:spPr>
        <p:txBody>
          <a:bodyPr wrap="square" lIns="0" tIns="0" rIns="0" bIns="0" rtlCol="0" anchor="t"/>
          <a:lstStyle/>
          <a:p>
            <a:pPr indent="0" marL="0">
              <a:buNone/>
            </a:pPr>
            <a:r>
              <a:rPr lang="en-US" sz="1400" dirty="0">
                <a:solidFill>
                  <a:srgbClr val="DBE7DE"/>
                </a:solidFill>
                <a:latin typeface="Malgun Gothic" pitchFamily="34" charset="0"/>
                <a:ea typeface="Malgun Gothic" pitchFamily="34" charset="-122"/>
                <a:cs typeface="Malgun Gothic" pitchFamily="34" charset="-120"/>
              </a:rPr>
              <a:t>누가 무엇을 볼 수 있는지 확인하고, 통과와 경고를 계산해요. Java와 Spring으로 만들었어요.</a:t>
            </a:r>
            <a:endParaRPr lang="en-US" sz="1400" dirty="0"/>
          </a:p>
        </p:txBody>
      </p:sp>
      <p:sp>
        <p:nvSpPr>
          <p:cNvPr id="12" name="arrow-2"/>
          <p:cNvSpPr/>
          <p:nvPr/>
        </p:nvSpPr>
        <p:spPr>
          <a:xfrm>
            <a:off x="7802880" y="2926080"/>
            <a:ext cx="585216" cy="411480"/>
          </a:xfrm>
          <a:prstGeom prst="rightArrow">
            <a:avLst/>
          </a:prstGeom>
          <a:solidFill>
            <a:schemeClr val="accent2"/>
          </a:solidFill>
          <a:ln w="12700">
            <a:solidFill>
              <a:schemeClr val="accent2"/>
            </a:solidFill>
            <a:prstDash val="solid"/>
          </a:ln>
        </p:spPr>
      </p:sp>
      <p:sp>
        <p:nvSpPr>
          <p:cNvPr id="13" name="arch-card-3"/>
          <p:cNvSpPr/>
          <p:nvPr/>
        </p:nvSpPr>
        <p:spPr>
          <a:xfrm>
            <a:off x="8644128" y="1783080"/>
            <a:ext cx="2904744" cy="2743200"/>
          </a:xfrm>
          <a:prstGeom prst="roundRect">
            <a:avLst>
              <a:gd name="adj" fmla="val 4000"/>
            </a:avLst>
          </a:prstGeom>
          <a:solidFill>
            <a:srgbClr val="1B3526"/>
          </a:solidFill>
          <a:ln w="12700">
            <a:solidFill>
              <a:srgbClr val="1B3526"/>
            </a:solidFill>
            <a:prstDash val="solid"/>
          </a:ln>
        </p:spPr>
      </p:sp>
      <p:sp>
        <p:nvSpPr>
          <p:cNvPr id="14" name="Text 12"/>
          <p:cNvSpPr txBox="1"/>
          <p:nvPr/>
        </p:nvSpPr>
        <p:spPr>
          <a:xfrm>
            <a:off x="8918448" y="2011680"/>
            <a:ext cx="2356104" cy="365760"/>
          </a:xfrm>
          <a:prstGeom prst="rect">
            <a:avLst/>
          </a:prstGeom>
          <a:noFill/>
          <a:ln/>
        </p:spPr>
        <p:txBody>
          <a:bodyPr wrap="square" lIns="0" tIns="0" rIns="0" bIns="0" rtlCol="0" anchor="ctr"/>
          <a:lstStyle/>
          <a:p>
            <a:pPr indent="0" marL="0">
              <a:buNone/>
            </a:pPr>
            <a:r>
              <a:rPr lang="en-US" sz="1600" b="1" dirty="0">
                <a:solidFill>
                  <a:schemeClr val="accent2"/>
                </a:solidFill>
                <a:latin typeface="Malgun Gothic" pitchFamily="34" charset="0"/>
                <a:ea typeface="Malgun Gothic" pitchFamily="34" charset="-122"/>
                <a:cs typeface="Malgun Gothic" pitchFamily="34" charset="-120"/>
              </a:rPr>
              <a:t>창고, 저장소</a:t>
            </a:r>
            <a:endParaRPr lang="en-US" sz="1600" dirty="0"/>
          </a:p>
        </p:txBody>
      </p:sp>
      <p:sp>
        <p:nvSpPr>
          <p:cNvPr id="15" name="Text 13"/>
          <p:cNvSpPr txBox="1"/>
          <p:nvPr/>
        </p:nvSpPr>
        <p:spPr>
          <a:xfrm>
            <a:off x="8918448" y="2468880"/>
            <a:ext cx="2356104" cy="640080"/>
          </a:xfrm>
          <a:prstGeom prst="rect">
            <a:avLst/>
          </a:prstGeom>
          <a:noFill/>
          <a:ln/>
        </p:spPr>
        <p:txBody>
          <a:bodyPr wrap="square" lIns="0" tIns="0" rIns="0" bIns="0" rtlCol="0" anchor="t"/>
          <a:lstStyle/>
          <a:p>
            <a:pPr indent="0" marL="0">
              <a:buNone/>
            </a:pPr>
            <a:r>
              <a:rPr lang="en-US" sz="2000" b="1" dirty="0">
                <a:solidFill>
                  <a:schemeClr val="bg1"/>
                </a:solidFill>
                <a:latin typeface="Malgun Gothic" pitchFamily="34" charset="0"/>
                <a:ea typeface="Malgun Gothic" pitchFamily="34" charset="-122"/>
                <a:cs typeface="Malgun Gothic" pitchFamily="34" charset="-120"/>
              </a:rPr>
              <a:t>자료를 나눠 두는 곳</a:t>
            </a:r>
            <a:endParaRPr lang="en-US" sz="2000" dirty="0"/>
          </a:p>
        </p:txBody>
      </p:sp>
      <p:sp>
        <p:nvSpPr>
          <p:cNvPr id="16" name="Text 14"/>
          <p:cNvSpPr txBox="1"/>
          <p:nvPr/>
        </p:nvSpPr>
        <p:spPr>
          <a:xfrm>
            <a:off x="8918448" y="3200400"/>
            <a:ext cx="2356104" cy="1188720"/>
          </a:xfrm>
          <a:prstGeom prst="rect">
            <a:avLst/>
          </a:prstGeom>
          <a:noFill/>
          <a:ln/>
        </p:spPr>
        <p:txBody>
          <a:bodyPr wrap="square" lIns="0" tIns="0" rIns="0" bIns="0" rtlCol="0" anchor="t"/>
          <a:lstStyle/>
          <a:p>
            <a:pPr indent="0" marL="0">
              <a:buNone/>
            </a:pPr>
            <a:r>
              <a:rPr lang="en-US" sz="1400" dirty="0">
                <a:solidFill>
                  <a:srgbClr val="DBE7DE"/>
                </a:solidFill>
                <a:latin typeface="Malgun Gothic" pitchFamily="34" charset="0"/>
                <a:ea typeface="Malgun Gothic" pitchFamily="34" charset="-122"/>
                <a:cs typeface="Malgun Gothic" pitchFamily="34" charset="-120"/>
              </a:rPr>
              <a:t>종류가 다른 자료를 맞는 보관함에 넣어요.</a:t>
            </a:r>
            <a:endParaRPr lang="en-US" sz="1400" dirty="0"/>
          </a:p>
        </p:txBody>
      </p:sp>
      <p:sp>
        <p:nvSpPr>
          <p:cNvPr id="17" name="store-1"/>
          <p:cNvSpPr/>
          <p:nvPr/>
        </p:nvSpPr>
        <p:spPr>
          <a:xfrm>
            <a:off x="640080" y="4846320"/>
            <a:ext cx="3453384" cy="868680"/>
          </a:xfrm>
          <a:prstGeom prst="roundRect">
            <a:avLst>
              <a:gd name="adj" fmla="val 12632"/>
            </a:avLst>
          </a:prstGeom>
          <a:solidFill>
            <a:srgbClr val="263029"/>
          </a:solidFill>
          <a:ln w="12700">
            <a:solidFill>
              <a:srgbClr val="263029"/>
            </a:solidFill>
            <a:prstDash val="solid"/>
          </a:ln>
        </p:spPr>
      </p:sp>
      <p:sp>
        <p:nvSpPr>
          <p:cNvPr id="18" name="Text 16"/>
          <p:cNvSpPr txBox="1"/>
          <p:nvPr/>
        </p:nvSpPr>
        <p:spPr>
          <a:xfrm>
            <a:off x="914400" y="4846320"/>
            <a:ext cx="2904744" cy="868680"/>
          </a:xfrm>
          <a:prstGeom prst="rect">
            <a:avLst/>
          </a:prstGeom>
          <a:noFill/>
          <a:ln/>
        </p:spPr>
        <p:txBody>
          <a:bodyPr wrap="square" lIns="0" tIns="0" rIns="0" bIns="0" rtlCol="0" anchor="ctr"/>
          <a:lstStyle/>
          <a:p>
            <a:pPr indent="0" marL="0">
              <a:buNone/>
            </a:pPr>
            <a:r>
              <a:rPr lang="en-US" sz="1600" b="1" dirty="0">
                <a:solidFill>
                  <a:schemeClr val="accent2"/>
                </a:solidFill>
                <a:latin typeface="Malgun Gothic" pitchFamily="34" charset="0"/>
                <a:ea typeface="Malgun Gothic" pitchFamily="34" charset="-122"/>
                <a:cs typeface="Malgun Gothic" pitchFamily="34" charset="-120"/>
              </a:rPr>
              <a:t>MariaDB  </a:t>
            </a:r>
            <a:pPr indent="0" marL="0">
              <a:buNone/>
            </a:pPr>
            <a:r>
              <a:rPr lang="en-US" sz="1600" dirty="0">
                <a:solidFill>
                  <a:schemeClr val="bg1"/>
                </a:solidFill>
                <a:latin typeface="Malgun Gothic" pitchFamily="34" charset="0"/>
                <a:ea typeface="Malgun Gothic" pitchFamily="34" charset="-122"/>
                <a:cs typeface="Malgun Gothic" pitchFamily="34" charset="-120"/>
              </a:rPr>
              <a:t>회원, 팀, 판정, 경고 장부</a:t>
            </a:r>
            <a:endParaRPr lang="en-US" sz="1600" dirty="0"/>
          </a:p>
        </p:txBody>
      </p:sp>
      <p:sp>
        <p:nvSpPr>
          <p:cNvPr id="19" name="store-2"/>
          <p:cNvSpPr/>
          <p:nvPr/>
        </p:nvSpPr>
        <p:spPr>
          <a:xfrm>
            <a:off x="4367784" y="4846320"/>
            <a:ext cx="3453384" cy="868680"/>
          </a:xfrm>
          <a:prstGeom prst="roundRect">
            <a:avLst>
              <a:gd name="adj" fmla="val 12632"/>
            </a:avLst>
          </a:prstGeom>
          <a:solidFill>
            <a:srgbClr val="263029"/>
          </a:solidFill>
          <a:ln w="12700">
            <a:solidFill>
              <a:srgbClr val="263029"/>
            </a:solidFill>
            <a:prstDash val="solid"/>
          </a:ln>
        </p:spPr>
      </p:sp>
      <p:sp>
        <p:nvSpPr>
          <p:cNvPr id="20" name="Text 18"/>
          <p:cNvSpPr txBox="1"/>
          <p:nvPr/>
        </p:nvSpPr>
        <p:spPr>
          <a:xfrm>
            <a:off x="4642104" y="4846320"/>
            <a:ext cx="2904744" cy="868680"/>
          </a:xfrm>
          <a:prstGeom prst="rect">
            <a:avLst/>
          </a:prstGeom>
          <a:noFill/>
          <a:ln/>
        </p:spPr>
        <p:txBody>
          <a:bodyPr wrap="square" lIns="0" tIns="0" rIns="0" bIns="0" rtlCol="0" anchor="ctr"/>
          <a:lstStyle/>
          <a:p>
            <a:pPr indent="0" marL="0">
              <a:buNone/>
            </a:pPr>
            <a:r>
              <a:rPr lang="en-US" sz="1600" b="1" dirty="0">
                <a:solidFill>
                  <a:schemeClr val="accent2"/>
                </a:solidFill>
                <a:latin typeface="Malgun Gothic" pitchFamily="34" charset="0"/>
                <a:ea typeface="Malgun Gothic" pitchFamily="34" charset="-122"/>
                <a:cs typeface="Malgun Gothic" pitchFamily="34" charset="-120"/>
              </a:rPr>
              <a:t>MongoDB  </a:t>
            </a:r>
            <a:pPr indent="0" marL="0">
              <a:buNone/>
            </a:pPr>
            <a:r>
              <a:rPr lang="en-US" sz="1600" dirty="0">
                <a:solidFill>
                  <a:schemeClr val="bg1"/>
                </a:solidFill>
                <a:latin typeface="Malgun Gothic" pitchFamily="34" charset="0"/>
                <a:ea typeface="Malgun Gothic" pitchFamily="34" charset="-122"/>
                <a:cs typeface="Malgun Gothic" pitchFamily="34" charset="-120"/>
              </a:rPr>
              <a:t>길이가 제각각인 글과 댓글</a:t>
            </a:r>
            <a:endParaRPr lang="en-US" sz="1600" dirty="0"/>
          </a:p>
        </p:txBody>
      </p:sp>
      <p:sp>
        <p:nvSpPr>
          <p:cNvPr id="21" name="store-3"/>
          <p:cNvSpPr/>
          <p:nvPr/>
        </p:nvSpPr>
        <p:spPr>
          <a:xfrm>
            <a:off x="8095488" y="4846320"/>
            <a:ext cx="3453384" cy="868680"/>
          </a:xfrm>
          <a:prstGeom prst="roundRect">
            <a:avLst>
              <a:gd name="adj" fmla="val 12632"/>
            </a:avLst>
          </a:prstGeom>
          <a:solidFill>
            <a:srgbClr val="263029"/>
          </a:solidFill>
          <a:ln w="12700">
            <a:solidFill>
              <a:srgbClr val="263029"/>
            </a:solidFill>
            <a:prstDash val="solid"/>
          </a:ln>
        </p:spPr>
      </p:sp>
      <p:sp>
        <p:nvSpPr>
          <p:cNvPr id="22" name="Text 20"/>
          <p:cNvSpPr txBox="1"/>
          <p:nvPr/>
        </p:nvSpPr>
        <p:spPr>
          <a:xfrm>
            <a:off x="8369808" y="4846320"/>
            <a:ext cx="2904744" cy="868680"/>
          </a:xfrm>
          <a:prstGeom prst="rect">
            <a:avLst/>
          </a:prstGeom>
          <a:noFill/>
          <a:ln/>
        </p:spPr>
        <p:txBody>
          <a:bodyPr wrap="square" lIns="0" tIns="0" rIns="0" bIns="0" rtlCol="0" anchor="ctr"/>
          <a:lstStyle/>
          <a:p>
            <a:pPr indent="0" marL="0">
              <a:buNone/>
            </a:pPr>
            <a:r>
              <a:rPr lang="en-US" sz="1600" b="1" dirty="0">
                <a:solidFill>
                  <a:schemeClr val="accent2"/>
                </a:solidFill>
                <a:latin typeface="Malgun Gothic" pitchFamily="34" charset="0"/>
                <a:ea typeface="Malgun Gothic" pitchFamily="34" charset="-122"/>
                <a:cs typeface="Malgun Gothic" pitchFamily="34" charset="-120"/>
              </a:rPr>
              <a:t>Redis  </a:t>
            </a:r>
            <a:pPr indent="0" marL="0">
              <a:buNone/>
            </a:pPr>
            <a:r>
              <a:rPr lang="en-US" sz="1600" dirty="0">
                <a:solidFill>
                  <a:schemeClr val="bg1"/>
                </a:solidFill>
                <a:latin typeface="Malgun Gothic" pitchFamily="34" charset="0"/>
                <a:ea typeface="Malgun Gothic" pitchFamily="34" charset="-122"/>
                <a:cs typeface="Malgun Gothic" pitchFamily="34" charset="-120"/>
              </a:rPr>
              <a:t>일회용 코드 같은 메모판</a:t>
            </a:r>
            <a:endParaRPr lang="en-US" sz="16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9FB5A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08792" cy="1005840"/>
          </a:xfrm>
          <a:prstGeom prst="rect">
            <a:avLst/>
          </a:prstGeom>
          <a:noFill/>
          <a:ln/>
        </p:spPr>
        <p:txBody>
          <a:bodyPr wrap="square" rtlCol="0" anchor="t"/>
          <a:lstStyle/>
          <a:p>
            <a:pPr algn="l" indent="0" marL="0">
              <a:buNone/>
            </a:pPr>
            <a:r>
              <a:rPr lang="en-US" sz="3600" b="1" dirty="0">
                <a:solidFill>
                  <a:schemeClr val="tx1"/>
                </a:solidFill>
              </a:rPr>
              <a:t>로그인 한 번에 이런 일이 벌어져요</a:t>
            </a:r>
            <a:endParaRPr lang="en-US" sz="3600" dirty="0"/>
          </a:p>
        </p:txBody>
      </p:sp>
      <p:sp>
        <p:nvSpPr>
          <p:cNvPr id="3" name="step-1"/>
          <p:cNvSpPr/>
          <p:nvPr/>
        </p:nvSpPr>
        <p:spPr>
          <a:xfrm>
            <a:off x="640080" y="1828800"/>
            <a:ext cx="2521458" cy="3200400"/>
          </a:xfrm>
          <a:prstGeom prst="roundRect">
            <a:avLst>
              <a:gd name="adj" fmla="val 4352"/>
            </a:avLst>
          </a:prstGeom>
          <a:solidFill>
            <a:schemeClr val="bg2"/>
          </a:solidFill>
          <a:ln w="15875">
            <a:solidFill>
              <a:schemeClr val="accent5"/>
            </a:solidFill>
            <a:prstDash val="solid"/>
          </a:ln>
        </p:spPr>
      </p:sp>
      <p:sp>
        <p:nvSpPr>
          <p:cNvPr id="4" name="Text 2"/>
          <p:cNvSpPr txBox="1"/>
          <p:nvPr/>
        </p:nvSpPr>
        <p:spPr>
          <a:xfrm>
            <a:off x="914400" y="2057400"/>
            <a:ext cx="1972818" cy="365760"/>
          </a:xfrm>
          <a:prstGeom prst="rect">
            <a:avLst/>
          </a:prstGeom>
          <a:noFill/>
          <a:ln/>
        </p:spPr>
        <p:txBody>
          <a:bodyPr wrap="square" lIns="0" tIns="0" rIns="0" bIns="0" rtlCol="0" anchor="ctr"/>
          <a:lstStyle/>
          <a:p>
            <a:pPr indent="0" marL="0">
              <a:buNone/>
            </a:pPr>
            <a:r>
              <a:rPr lang="en-US" sz="1600" b="1" dirty="0">
                <a:solidFill>
                  <a:schemeClr val="accent1"/>
                </a:solidFill>
                <a:latin typeface="Malgun Gothic" pitchFamily="34" charset="0"/>
                <a:ea typeface="Malgun Gothic" pitchFamily="34" charset="-122"/>
                <a:cs typeface="Malgun Gothic" pitchFamily="34" charset="-120"/>
              </a:rPr>
              <a:t>1단계</a:t>
            </a:r>
            <a:endParaRPr lang="en-US" sz="1600" dirty="0"/>
          </a:p>
        </p:txBody>
      </p:sp>
      <p:sp>
        <p:nvSpPr>
          <p:cNvPr id="5" name="Text 3"/>
          <p:cNvSpPr txBox="1"/>
          <p:nvPr/>
        </p:nvSpPr>
        <p:spPr>
          <a:xfrm>
            <a:off x="914400" y="2514600"/>
            <a:ext cx="1972818" cy="822960"/>
          </a:xfrm>
          <a:prstGeom prst="rect">
            <a:avLst/>
          </a:prstGeom>
          <a:noFill/>
          <a:ln/>
        </p:spPr>
        <p:txBody>
          <a:bodyPr wrap="square" lIns="0" tIns="0" rIns="0" bIns="0" rtlCol="0" anchor="t"/>
          <a:lstStyle/>
          <a:p>
            <a:pPr indent="0" marL="0">
              <a:buNone/>
            </a:pPr>
            <a:r>
              <a:rPr lang="en-US" sz="1800" b="1" dirty="0">
                <a:solidFill>
                  <a:schemeClr val="tx1"/>
                </a:solidFill>
                <a:latin typeface="Malgun Gothic" pitchFamily="34" charset="0"/>
                <a:ea typeface="Malgun Gothic" pitchFamily="34" charset="-122"/>
                <a:cs typeface="Malgun Gothic" pitchFamily="34" charset="-120"/>
              </a:rPr>
              <a:t>GitHub로 보내요</a:t>
            </a:r>
            <a:endParaRPr lang="en-US" sz="1800" dirty="0"/>
          </a:p>
        </p:txBody>
      </p:sp>
      <p:sp>
        <p:nvSpPr>
          <p:cNvPr id="6" name="Text 4"/>
          <p:cNvSpPr txBox="1"/>
          <p:nvPr/>
        </p:nvSpPr>
        <p:spPr>
          <a:xfrm>
            <a:off x="914400" y="3383280"/>
            <a:ext cx="1972818" cy="1463040"/>
          </a:xfrm>
          <a:prstGeom prst="rect">
            <a:avLst/>
          </a:prstGeom>
          <a:noFill/>
          <a:ln/>
        </p:spPr>
        <p:txBody>
          <a:bodyPr wrap="square" lIns="0" tIns="0" rIns="0" bIns="0" rtlCol="0" anchor="t"/>
          <a:lstStyle/>
          <a:p>
            <a:pPr indent="0" marL="0">
              <a:buNone/>
            </a:pPr>
            <a:r>
              <a:rPr lang="en-US" sz="1400" dirty="0">
                <a:solidFill>
                  <a:schemeClr val="accent6"/>
                </a:solidFill>
                <a:latin typeface="Malgun Gothic" pitchFamily="34" charset="0"/>
                <a:ea typeface="Malgun Gothic" pitchFamily="34" charset="-122"/>
                <a:cs typeface="Malgun Gothic" pitchFamily="34" charset="-120"/>
              </a:rPr>
              <a:t>버튼을 누르면 서버가 GitHub 로그인 화면으로 안내해요.</a:t>
            </a:r>
            <a:endParaRPr lang="en-US" sz="1400" dirty="0"/>
          </a:p>
        </p:txBody>
      </p:sp>
      <p:sp>
        <p:nvSpPr>
          <p:cNvPr id="7" name="step-2"/>
          <p:cNvSpPr/>
          <p:nvPr/>
        </p:nvSpPr>
        <p:spPr>
          <a:xfrm>
            <a:off x="3435858" y="1828800"/>
            <a:ext cx="2521458" cy="3200400"/>
          </a:xfrm>
          <a:prstGeom prst="roundRect">
            <a:avLst>
              <a:gd name="adj" fmla="val 4352"/>
            </a:avLst>
          </a:prstGeom>
          <a:solidFill>
            <a:schemeClr val="bg2"/>
          </a:solidFill>
          <a:ln w="15875">
            <a:solidFill>
              <a:schemeClr val="accent5"/>
            </a:solidFill>
            <a:prstDash val="solid"/>
          </a:ln>
        </p:spPr>
      </p:sp>
      <p:sp>
        <p:nvSpPr>
          <p:cNvPr id="8" name="Text 6"/>
          <p:cNvSpPr txBox="1"/>
          <p:nvPr/>
        </p:nvSpPr>
        <p:spPr>
          <a:xfrm>
            <a:off x="3710178" y="2057400"/>
            <a:ext cx="1972818" cy="365760"/>
          </a:xfrm>
          <a:prstGeom prst="rect">
            <a:avLst/>
          </a:prstGeom>
          <a:noFill/>
          <a:ln/>
        </p:spPr>
        <p:txBody>
          <a:bodyPr wrap="square" lIns="0" tIns="0" rIns="0" bIns="0" rtlCol="0" anchor="ctr"/>
          <a:lstStyle/>
          <a:p>
            <a:pPr indent="0" marL="0">
              <a:buNone/>
            </a:pPr>
            <a:r>
              <a:rPr lang="en-US" sz="1600" b="1" dirty="0">
                <a:solidFill>
                  <a:schemeClr val="accent1"/>
                </a:solidFill>
                <a:latin typeface="Malgun Gothic" pitchFamily="34" charset="0"/>
                <a:ea typeface="Malgun Gothic" pitchFamily="34" charset="-122"/>
                <a:cs typeface="Malgun Gothic" pitchFamily="34" charset="-120"/>
              </a:rPr>
              <a:t>2단계</a:t>
            </a:r>
            <a:endParaRPr lang="en-US" sz="1600" dirty="0"/>
          </a:p>
        </p:txBody>
      </p:sp>
      <p:sp>
        <p:nvSpPr>
          <p:cNvPr id="9" name="Text 7"/>
          <p:cNvSpPr txBox="1"/>
          <p:nvPr/>
        </p:nvSpPr>
        <p:spPr>
          <a:xfrm>
            <a:off x="3710178" y="2514600"/>
            <a:ext cx="1972818" cy="822960"/>
          </a:xfrm>
          <a:prstGeom prst="rect">
            <a:avLst/>
          </a:prstGeom>
          <a:noFill/>
          <a:ln/>
        </p:spPr>
        <p:txBody>
          <a:bodyPr wrap="square" lIns="0" tIns="0" rIns="0" bIns="0" rtlCol="0" anchor="t"/>
          <a:lstStyle/>
          <a:p>
            <a:pPr indent="0" marL="0">
              <a:buNone/>
            </a:pPr>
            <a:r>
              <a:rPr lang="en-US" sz="1800" b="1" dirty="0">
                <a:solidFill>
                  <a:schemeClr val="tx1"/>
                </a:solidFill>
                <a:latin typeface="Malgun Gothic" pitchFamily="34" charset="0"/>
                <a:ea typeface="Malgun Gothic" pitchFamily="34" charset="-122"/>
                <a:cs typeface="Malgun Gothic" pitchFamily="34" charset="-120"/>
              </a:rPr>
              <a:t>GitHub가 확인해요</a:t>
            </a:r>
            <a:endParaRPr lang="en-US" sz="1800" dirty="0"/>
          </a:p>
        </p:txBody>
      </p:sp>
      <p:sp>
        <p:nvSpPr>
          <p:cNvPr id="10" name="Text 8"/>
          <p:cNvSpPr txBox="1"/>
          <p:nvPr/>
        </p:nvSpPr>
        <p:spPr>
          <a:xfrm>
            <a:off x="3710178" y="3383280"/>
            <a:ext cx="1972818" cy="1463040"/>
          </a:xfrm>
          <a:prstGeom prst="rect">
            <a:avLst/>
          </a:prstGeom>
          <a:noFill/>
          <a:ln/>
        </p:spPr>
        <p:txBody>
          <a:bodyPr wrap="square" lIns="0" tIns="0" rIns="0" bIns="0" rtlCol="0" anchor="t"/>
          <a:lstStyle/>
          <a:p>
            <a:pPr indent="0" marL="0">
              <a:buNone/>
            </a:pPr>
            <a:r>
              <a:rPr lang="en-US" sz="1400" dirty="0">
                <a:solidFill>
                  <a:schemeClr val="accent6"/>
                </a:solidFill>
                <a:latin typeface="Malgun Gothic" pitchFamily="34" charset="0"/>
                <a:ea typeface="Malgun Gothic" pitchFamily="34" charset="-122"/>
                <a:cs typeface="Malgun Gothic" pitchFamily="34" charset="-120"/>
              </a:rPr>
              <a:t>사용자가 허용하면 서버로 돌아와요. 서버는 비밀번호를 받지 않아요.</a:t>
            </a:r>
            <a:endParaRPr lang="en-US" sz="1400" dirty="0"/>
          </a:p>
        </p:txBody>
      </p:sp>
      <p:sp>
        <p:nvSpPr>
          <p:cNvPr id="11" name="step-3"/>
          <p:cNvSpPr/>
          <p:nvPr/>
        </p:nvSpPr>
        <p:spPr>
          <a:xfrm>
            <a:off x="6231636" y="1828800"/>
            <a:ext cx="2521458" cy="3200400"/>
          </a:xfrm>
          <a:prstGeom prst="roundRect">
            <a:avLst>
              <a:gd name="adj" fmla="val 4352"/>
            </a:avLst>
          </a:prstGeom>
          <a:solidFill>
            <a:schemeClr val="bg2"/>
          </a:solidFill>
          <a:ln w="15875">
            <a:solidFill>
              <a:schemeClr val="accent5"/>
            </a:solidFill>
            <a:prstDash val="solid"/>
          </a:ln>
        </p:spPr>
      </p:sp>
      <p:sp>
        <p:nvSpPr>
          <p:cNvPr id="12" name="Text 10"/>
          <p:cNvSpPr txBox="1"/>
          <p:nvPr/>
        </p:nvSpPr>
        <p:spPr>
          <a:xfrm>
            <a:off x="6505956" y="2057400"/>
            <a:ext cx="1972818" cy="365760"/>
          </a:xfrm>
          <a:prstGeom prst="rect">
            <a:avLst/>
          </a:prstGeom>
          <a:noFill/>
          <a:ln/>
        </p:spPr>
        <p:txBody>
          <a:bodyPr wrap="square" lIns="0" tIns="0" rIns="0" bIns="0" rtlCol="0" anchor="ctr"/>
          <a:lstStyle/>
          <a:p>
            <a:pPr indent="0" marL="0">
              <a:buNone/>
            </a:pPr>
            <a:r>
              <a:rPr lang="en-US" sz="1600" b="1" dirty="0">
                <a:solidFill>
                  <a:schemeClr val="accent1"/>
                </a:solidFill>
                <a:latin typeface="Malgun Gothic" pitchFamily="34" charset="0"/>
                <a:ea typeface="Malgun Gothic" pitchFamily="34" charset="-122"/>
                <a:cs typeface="Malgun Gothic" pitchFamily="34" charset="-120"/>
              </a:rPr>
              <a:t>3단계</a:t>
            </a:r>
            <a:endParaRPr lang="en-US" sz="1600" dirty="0"/>
          </a:p>
        </p:txBody>
      </p:sp>
      <p:sp>
        <p:nvSpPr>
          <p:cNvPr id="13" name="Text 11"/>
          <p:cNvSpPr txBox="1"/>
          <p:nvPr/>
        </p:nvSpPr>
        <p:spPr>
          <a:xfrm>
            <a:off x="6505956" y="2514600"/>
            <a:ext cx="1972818" cy="822960"/>
          </a:xfrm>
          <a:prstGeom prst="rect">
            <a:avLst/>
          </a:prstGeom>
          <a:noFill/>
          <a:ln/>
        </p:spPr>
        <p:txBody>
          <a:bodyPr wrap="square" lIns="0" tIns="0" rIns="0" bIns="0" rtlCol="0" anchor="t"/>
          <a:lstStyle/>
          <a:p>
            <a:pPr indent="0" marL="0">
              <a:buNone/>
            </a:pPr>
            <a:r>
              <a:rPr lang="en-US" sz="1800" b="1" dirty="0">
                <a:solidFill>
                  <a:schemeClr val="tx1"/>
                </a:solidFill>
                <a:latin typeface="Malgun Gothic" pitchFamily="34" charset="0"/>
                <a:ea typeface="Malgun Gothic" pitchFamily="34" charset="-122"/>
                <a:cs typeface="Malgun Gothic" pitchFamily="34" charset="-120"/>
              </a:rPr>
              <a:t>일회용 코드를 줘요</a:t>
            </a:r>
            <a:endParaRPr lang="en-US" sz="1800" dirty="0"/>
          </a:p>
        </p:txBody>
      </p:sp>
      <p:sp>
        <p:nvSpPr>
          <p:cNvPr id="14" name="Text 12"/>
          <p:cNvSpPr txBox="1"/>
          <p:nvPr/>
        </p:nvSpPr>
        <p:spPr>
          <a:xfrm>
            <a:off x="6505956" y="3383280"/>
            <a:ext cx="1972818" cy="1463040"/>
          </a:xfrm>
          <a:prstGeom prst="rect">
            <a:avLst/>
          </a:prstGeom>
          <a:noFill/>
          <a:ln/>
        </p:spPr>
        <p:txBody>
          <a:bodyPr wrap="square" lIns="0" tIns="0" rIns="0" bIns="0" rtlCol="0" anchor="t"/>
          <a:lstStyle/>
          <a:p>
            <a:pPr indent="0" marL="0">
              <a:buNone/>
            </a:pPr>
            <a:r>
              <a:rPr lang="en-US" sz="1400" dirty="0">
                <a:solidFill>
                  <a:schemeClr val="accent6"/>
                </a:solidFill>
                <a:latin typeface="Malgun Gothic" pitchFamily="34" charset="0"/>
                <a:ea typeface="Malgun Gothic" pitchFamily="34" charset="-122"/>
                <a:cs typeface="Malgun Gothic" pitchFamily="34" charset="-120"/>
              </a:rPr>
              <a:t>60초만 쓸 수 있는 코드를 화면에 넘겨요. 처음이면 이때 회원이 만들어져요.</a:t>
            </a:r>
            <a:endParaRPr lang="en-US" sz="1400" dirty="0"/>
          </a:p>
        </p:txBody>
      </p:sp>
      <p:sp>
        <p:nvSpPr>
          <p:cNvPr id="15" name="step-4"/>
          <p:cNvSpPr/>
          <p:nvPr/>
        </p:nvSpPr>
        <p:spPr>
          <a:xfrm>
            <a:off x="9027414" y="1828800"/>
            <a:ext cx="2521458" cy="3200400"/>
          </a:xfrm>
          <a:prstGeom prst="roundRect">
            <a:avLst>
              <a:gd name="adj" fmla="val 4352"/>
            </a:avLst>
          </a:prstGeom>
          <a:solidFill>
            <a:schemeClr val="accent1"/>
          </a:solidFill>
          <a:ln w="12700">
            <a:solidFill>
              <a:schemeClr val="accent1"/>
            </a:solidFill>
            <a:prstDash val="solid"/>
          </a:ln>
        </p:spPr>
      </p:sp>
      <p:sp>
        <p:nvSpPr>
          <p:cNvPr id="16" name="Text 14"/>
          <p:cNvSpPr txBox="1"/>
          <p:nvPr/>
        </p:nvSpPr>
        <p:spPr>
          <a:xfrm>
            <a:off x="9301734" y="2057400"/>
            <a:ext cx="1972818" cy="365760"/>
          </a:xfrm>
          <a:prstGeom prst="rect">
            <a:avLst/>
          </a:prstGeom>
          <a:noFill/>
          <a:ln/>
        </p:spPr>
        <p:txBody>
          <a:bodyPr wrap="square" lIns="0" tIns="0" rIns="0" bIns="0" rtlCol="0" anchor="ctr"/>
          <a:lstStyle/>
          <a:p>
            <a:pPr indent="0" marL="0">
              <a:buNone/>
            </a:pPr>
            <a:r>
              <a:rPr lang="en-US" sz="1600" b="1" dirty="0">
                <a:solidFill>
                  <a:srgbClr val="BFE2CC"/>
                </a:solidFill>
                <a:latin typeface="Malgun Gothic" pitchFamily="34" charset="0"/>
                <a:ea typeface="Malgun Gothic" pitchFamily="34" charset="-122"/>
                <a:cs typeface="Malgun Gothic" pitchFamily="34" charset="-120"/>
              </a:rPr>
              <a:t>4단계</a:t>
            </a:r>
            <a:endParaRPr lang="en-US" sz="1600" dirty="0"/>
          </a:p>
        </p:txBody>
      </p:sp>
      <p:sp>
        <p:nvSpPr>
          <p:cNvPr id="17" name="Text 15"/>
          <p:cNvSpPr txBox="1"/>
          <p:nvPr/>
        </p:nvSpPr>
        <p:spPr>
          <a:xfrm>
            <a:off x="9301734" y="2514600"/>
            <a:ext cx="1972818" cy="822960"/>
          </a:xfrm>
          <a:prstGeom prst="rect">
            <a:avLst/>
          </a:prstGeom>
          <a:noFill/>
          <a:ln/>
        </p:spPr>
        <p:txBody>
          <a:bodyPr wrap="square" lIns="0" tIns="0" rIns="0" bIns="0" rtlCol="0" anchor="t"/>
          <a:lstStyle/>
          <a:p>
            <a:pPr indent="0" marL="0">
              <a:buNone/>
            </a:pPr>
            <a:r>
              <a:rPr lang="en-US" sz="1800" b="1" dirty="0">
                <a:solidFill>
                  <a:schemeClr val="bg1"/>
                </a:solidFill>
                <a:latin typeface="Malgun Gothic" pitchFamily="34" charset="0"/>
                <a:ea typeface="Malgun Gothic" pitchFamily="34" charset="-122"/>
                <a:cs typeface="Malgun Gothic" pitchFamily="34" charset="-120"/>
              </a:rPr>
              <a:t>출입증을 받아요</a:t>
            </a:r>
            <a:endParaRPr lang="en-US" sz="1800" dirty="0"/>
          </a:p>
        </p:txBody>
      </p:sp>
      <p:sp>
        <p:nvSpPr>
          <p:cNvPr id="18" name="Text 16"/>
          <p:cNvSpPr txBox="1"/>
          <p:nvPr/>
        </p:nvSpPr>
        <p:spPr>
          <a:xfrm>
            <a:off x="9301734" y="3383280"/>
            <a:ext cx="1972818" cy="1463040"/>
          </a:xfrm>
          <a:prstGeom prst="rect">
            <a:avLst/>
          </a:prstGeom>
          <a:noFill/>
          <a:ln/>
        </p:spPr>
        <p:txBody>
          <a:bodyPr wrap="square" lIns="0" tIns="0" rIns="0" bIns="0" rtlCol="0" anchor="t"/>
          <a:lstStyle/>
          <a:p>
            <a:pPr indent="0" marL="0">
              <a:buNone/>
            </a:pPr>
            <a:r>
              <a:rPr lang="en-US" sz="1400" dirty="0">
                <a:solidFill>
                  <a:srgbClr val="E3F1E8"/>
                </a:solidFill>
                <a:latin typeface="Malgun Gothic" pitchFamily="34" charset="0"/>
                <a:ea typeface="Malgun Gothic" pitchFamily="34" charset="-122"/>
                <a:cs typeface="Malgun Gothic" pitchFamily="34" charset="-120"/>
              </a:rPr>
              <a:t>코드를 내면 12시간짜리 출입증(토큰)을 줘요. 이후 요청에 붙어요.</a:t>
            </a:r>
            <a:endParaRPr lang="en-US" sz="14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C77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08792" cy="1005840"/>
          </a:xfrm>
          <a:prstGeom prst="rect">
            <a:avLst/>
          </a:prstGeom>
          <a:noFill/>
          <a:ln/>
        </p:spPr>
        <p:txBody>
          <a:bodyPr wrap="square" rtlCol="0" anchor="t"/>
          <a:lstStyle/>
          <a:p>
            <a:pPr algn="l" indent="0" marL="0">
              <a:buNone/>
            </a:pPr>
            <a:r>
              <a:rPr lang="en-US" sz="3600" b="1" dirty="0">
                <a:solidFill>
                  <a:schemeClr val="tx1"/>
                </a:solidFill>
              </a:rPr>
              <a:t>이번에 바꾼 것</a:t>
            </a:r>
            <a:endParaRPr lang="en-US" sz="3600" dirty="0"/>
          </a:p>
        </p:txBody>
      </p:sp>
      <p:sp>
        <p:nvSpPr>
          <p:cNvPr id="3" name="change-server"/>
          <p:cNvSpPr/>
          <p:nvPr/>
        </p:nvSpPr>
        <p:spPr>
          <a:xfrm>
            <a:off x="640080" y="1783080"/>
            <a:ext cx="5271516" cy="3474720"/>
          </a:xfrm>
          <a:prstGeom prst="roundRect">
            <a:avLst>
              <a:gd name="adj" fmla="val 3158"/>
            </a:avLst>
          </a:prstGeom>
          <a:solidFill>
            <a:schemeClr val="bg2"/>
          </a:solidFill>
          <a:ln w="15875">
            <a:solidFill>
              <a:schemeClr val="accent5"/>
            </a:solidFill>
            <a:prstDash val="solid"/>
          </a:ln>
        </p:spPr>
      </p:sp>
      <p:sp>
        <p:nvSpPr>
          <p:cNvPr id="4" name="Text 2"/>
          <p:cNvSpPr txBox="1"/>
          <p:nvPr/>
        </p:nvSpPr>
        <p:spPr>
          <a:xfrm>
            <a:off x="1005840" y="2011680"/>
            <a:ext cx="3657600" cy="457200"/>
          </a:xfrm>
          <a:prstGeom prst="rect">
            <a:avLst/>
          </a:prstGeom>
          <a:noFill/>
          <a:ln/>
        </p:spPr>
        <p:txBody>
          <a:bodyPr wrap="square" lIns="0" tIns="0" rIns="0" bIns="0" rtlCol="0" anchor="ctr"/>
          <a:lstStyle/>
          <a:p>
            <a:pPr indent="0" marL="0">
              <a:buNone/>
            </a:pPr>
            <a:r>
              <a:rPr lang="en-US" sz="2400" b="1" dirty="0">
                <a:solidFill>
                  <a:schemeClr val="accent4"/>
                </a:solidFill>
                <a:latin typeface="Malgun Gothic" pitchFamily="34" charset="0"/>
                <a:ea typeface="Malgun Gothic" pitchFamily="34" charset="-122"/>
                <a:cs typeface="Malgun Gothic" pitchFamily="34" charset="-120"/>
              </a:rPr>
              <a:t>서버</a:t>
            </a:r>
            <a:endParaRPr lang="en-US" sz="2400" dirty="0"/>
          </a:p>
        </p:txBody>
      </p:sp>
      <p:sp>
        <p:nvSpPr>
          <p:cNvPr id="5" name="Text 3"/>
          <p:cNvSpPr txBox="1"/>
          <p:nvPr/>
        </p:nvSpPr>
        <p:spPr>
          <a:xfrm>
            <a:off x="1005840" y="2651760"/>
            <a:ext cx="4539996"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latin typeface="Malgun Gothic" pitchFamily="34" charset="0"/>
                <a:ea typeface="Malgun Gothic" pitchFamily="34" charset="-122"/>
                <a:cs typeface="Malgun Gothic" pitchFamily="34" charset="-120"/>
              </a:rPr>
              <a:t>가입 승인이 없어졌어요. 로그인하면 바로 써요.</a:t>
            </a:r>
            <a:endParaRPr lang="en-US" sz="1600" dirty="0"/>
          </a:p>
          <a:p>
            <a:pPr marL="342900" indent="-342900">
              <a:spcAft>
                <a:spcPts val="1000"/>
              </a:spcAft>
              <a:buSzPct val="100000"/>
              <a:buChar char="•"/>
            </a:pPr>
            <a:r>
              <a:rPr lang="en-US" sz="1600" dirty="0">
                <a:solidFill>
                  <a:schemeClr val="tx1"/>
                </a:solidFill>
                <a:latin typeface="Malgun Gothic" pitchFamily="34" charset="0"/>
                <a:ea typeface="Malgun Gothic" pitchFamily="34" charset="-122"/>
                <a:cs typeface="Malgun Gothic" pitchFamily="34" charset="-120"/>
              </a:rPr>
              <a:t>관리자 승격은 현재 관리자가 해요.</a:t>
            </a:r>
            <a:endParaRPr lang="en-US" sz="1600" dirty="0"/>
          </a:p>
          <a:p>
            <a:pPr marL="342900" indent="-342900">
              <a:spcAft>
                <a:spcPts val="1000"/>
              </a:spcAft>
              <a:buSzPct val="100000"/>
              <a:buChar char="•"/>
            </a:pPr>
            <a:r>
              <a:rPr lang="en-US" sz="1600" dirty="0">
                <a:solidFill>
                  <a:schemeClr val="tx1"/>
                </a:solidFill>
                <a:latin typeface="Malgun Gothic" pitchFamily="34" charset="0"/>
                <a:ea typeface="Malgun Gothic" pitchFamily="34" charset="-122"/>
                <a:cs typeface="Malgun Gothic" pitchFamily="34" charset="-120"/>
              </a:rPr>
              <a:t>글의 관련 커밋 기능을 지웠어요.</a:t>
            </a:r>
            <a:endParaRPr lang="en-US" sz="1600" dirty="0"/>
          </a:p>
        </p:txBody>
      </p:sp>
      <p:sp>
        <p:nvSpPr>
          <p:cNvPr id="6" name="change-front"/>
          <p:cNvSpPr/>
          <p:nvPr/>
        </p:nvSpPr>
        <p:spPr>
          <a:xfrm>
            <a:off x="6277356" y="1783080"/>
            <a:ext cx="5271516" cy="3474720"/>
          </a:xfrm>
          <a:prstGeom prst="roundRect">
            <a:avLst>
              <a:gd name="adj" fmla="val 3158"/>
            </a:avLst>
          </a:prstGeom>
          <a:solidFill>
            <a:schemeClr val="bg2"/>
          </a:solidFill>
          <a:ln w="15875">
            <a:solidFill>
              <a:schemeClr val="accent1"/>
            </a:solidFill>
            <a:prstDash val="solid"/>
          </a:ln>
        </p:spPr>
      </p:sp>
      <p:sp>
        <p:nvSpPr>
          <p:cNvPr id="7" name="Text 5"/>
          <p:cNvSpPr txBox="1"/>
          <p:nvPr/>
        </p:nvSpPr>
        <p:spPr>
          <a:xfrm>
            <a:off x="6643116" y="2011680"/>
            <a:ext cx="3657600" cy="457200"/>
          </a:xfrm>
          <a:prstGeom prst="rect">
            <a:avLst/>
          </a:prstGeom>
          <a:noFill/>
          <a:ln/>
        </p:spPr>
        <p:txBody>
          <a:bodyPr wrap="square" lIns="0" tIns="0" rIns="0" bIns="0" rtlCol="0" anchor="ctr"/>
          <a:lstStyle/>
          <a:p>
            <a:pPr indent="0" marL="0">
              <a:buNone/>
            </a:pPr>
            <a:r>
              <a:rPr lang="en-US" sz="2400" b="1" dirty="0">
                <a:solidFill>
                  <a:schemeClr val="accent1"/>
                </a:solidFill>
                <a:latin typeface="Malgun Gothic" pitchFamily="34" charset="0"/>
                <a:ea typeface="Malgun Gothic" pitchFamily="34" charset="-122"/>
                <a:cs typeface="Malgun Gothic" pitchFamily="34" charset="-120"/>
              </a:rPr>
              <a:t>화면</a:t>
            </a:r>
            <a:endParaRPr lang="en-US" sz="2400" dirty="0"/>
          </a:p>
        </p:txBody>
      </p:sp>
      <p:sp>
        <p:nvSpPr>
          <p:cNvPr id="8" name="Text 6"/>
          <p:cNvSpPr txBox="1"/>
          <p:nvPr/>
        </p:nvSpPr>
        <p:spPr>
          <a:xfrm>
            <a:off x="6643116" y="2651760"/>
            <a:ext cx="4539996"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latin typeface="Malgun Gothic" pitchFamily="34" charset="0"/>
                <a:ea typeface="Malgun Gothic" pitchFamily="34" charset="-122"/>
                <a:cs typeface="Malgun Gothic" pitchFamily="34" charset="-120"/>
              </a:rPr>
              <a:t>핵심 메뉴 5개를 헤더 오른쪽에 모았어요.</a:t>
            </a:r>
            <a:endParaRPr lang="en-US" sz="1600" dirty="0"/>
          </a:p>
          <a:p>
            <a:pPr marL="342900" indent="-342900">
              <a:spcAft>
                <a:spcPts val="1000"/>
              </a:spcAft>
              <a:buSzPct val="100000"/>
              <a:buChar char="•"/>
            </a:pPr>
            <a:r>
              <a:rPr lang="en-US" sz="1600" dirty="0">
                <a:solidFill>
                  <a:schemeClr val="tx1"/>
                </a:solidFill>
                <a:latin typeface="Malgun Gothic" pitchFamily="34" charset="0"/>
                <a:ea typeface="Malgun Gothic" pitchFamily="34" charset="-122"/>
                <a:cs typeface="Malgun Gothic" pitchFamily="34" charset="-120"/>
              </a:rPr>
              <a:t>메뉴를 열면 “지금 위치”가 맨 위에 떠요.</a:t>
            </a:r>
            <a:endParaRPr lang="en-US" sz="1600" dirty="0"/>
          </a:p>
          <a:p>
            <a:pPr marL="342900" indent="-342900">
              <a:spcAft>
                <a:spcPts val="1000"/>
              </a:spcAft>
              <a:buSzPct val="100000"/>
              <a:buChar char="•"/>
            </a:pPr>
            <a:r>
              <a:rPr lang="en-US" sz="1600" dirty="0">
                <a:solidFill>
                  <a:schemeClr val="tx1"/>
                </a:solidFill>
                <a:latin typeface="Malgun Gothic" pitchFamily="34" charset="0"/>
                <a:ea typeface="Malgun Gothic" pitchFamily="34" charset="-122"/>
                <a:cs typeface="Malgun Gothic" pitchFamily="34" charset="-120"/>
              </a:rPr>
              <a:t>로그아웃은 프로필 화면으로 옮겼어요.</a:t>
            </a:r>
            <a:endParaRPr lang="en-US" sz="1600" dirty="0"/>
          </a:p>
          <a:p>
            <a:pPr marL="342900" indent="-342900">
              <a:spcAft>
                <a:spcPts val="1000"/>
              </a:spcAft>
              <a:buSzPct val="100000"/>
              <a:buChar char="•"/>
            </a:pPr>
            <a:r>
              <a:rPr lang="en-US" sz="1600" dirty="0">
                <a:solidFill>
                  <a:schemeClr val="tx1"/>
                </a:solidFill>
                <a:latin typeface="Malgun Gothic" pitchFamily="34" charset="0"/>
                <a:ea typeface="Malgun Gothic" pitchFamily="34" charset="-122"/>
                <a:cs typeface="Malgun Gothic" pitchFamily="34" charset="-120"/>
              </a:rPr>
              <a:t>프로필 잔디에 불러온 시각이 보여요.</a:t>
            </a:r>
            <a:endParaRPr lang="en-US" sz="1600" dirty="0"/>
          </a:p>
        </p:txBody>
      </p:sp>
      <p:sp>
        <p:nvSpPr>
          <p:cNvPr id="9" name="Text 7"/>
          <p:cNvSpPr txBox="1"/>
          <p:nvPr/>
        </p:nvSpPr>
        <p:spPr>
          <a:xfrm>
            <a:off x="640080" y="5577840"/>
            <a:ext cx="10908792" cy="457200"/>
          </a:xfrm>
          <a:prstGeom prst="rect">
            <a:avLst/>
          </a:prstGeom>
          <a:noFill/>
          <a:ln/>
        </p:spPr>
        <p:txBody>
          <a:bodyPr wrap="square" lIns="0" tIns="0" rIns="0" bIns="0" rtlCol="0" anchor="ctr"/>
          <a:lstStyle/>
          <a:p>
            <a:pPr indent="0" marL="0">
              <a:buNone/>
            </a:pPr>
            <a:r>
              <a:rPr lang="en-US" sz="1800" dirty="0">
                <a:solidFill>
                  <a:schemeClr val="accent6"/>
                </a:solidFill>
                <a:latin typeface="Malgun Gothic" pitchFamily="34" charset="0"/>
                <a:ea typeface="Malgun Gothic" pitchFamily="34" charset="-122"/>
                <a:cs typeface="Malgun Gothic" pitchFamily="34" charset="-120"/>
              </a:rPr>
              <a:t>잔디 칸에 커서를 올리면 그날 기여 수도 바로 보여요.</a:t>
            </a:r>
            <a:endParaRPr lang="en-US" sz="18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C77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08792" cy="1005840"/>
          </a:xfrm>
          <a:prstGeom prst="rect">
            <a:avLst/>
          </a:prstGeom>
          <a:noFill/>
          <a:ln/>
        </p:spPr>
        <p:txBody>
          <a:bodyPr wrap="square" rtlCol="0" anchor="t"/>
          <a:lstStyle/>
          <a:p>
            <a:pPr algn="l" indent="0" marL="0">
              <a:buNone/>
            </a:pPr>
            <a:r>
              <a:rPr lang="en-US" sz="3600" b="1" dirty="0">
                <a:solidFill>
                  <a:schemeClr val="bg1"/>
                </a:solidFill>
              </a:rPr>
              <a:t>화면은 다섯 가지 원칙으로 만들었어요</a:t>
            </a:r>
            <a:endParaRPr lang="en-US" sz="3600" dirty="0"/>
          </a:p>
        </p:txBody>
      </p:sp>
      <p:graphicFrame>
        <p:nvGraphicFramePr>
          <p:cNvPr id="11" name="laws-table"/>
          <p:cNvGraphicFramePr>
            <a:graphicFrameLocks noGrp="1"/>
          </p:cNvGraphicFramePr>
          <p:nvPr>
            <p:extLst>
              <p:ext uri="{D42A27DB-BD31-4B8C-83A1-F6EECF244321}">
                <p14:modId xmlns:p14="http://schemas.microsoft.com/office/powerpoint/2010/main" val="1579011935"/>
              </p:ext>
            </p:extLst>
          </p:nvPr>
        </p:nvGraphicFramePr>
        <p:xfrm>
          <a:off x="640080" y="1737360"/>
          <a:ext cx="10908792" cy="914400"/>
        </p:xfrm>
        <a:graphic>
          <a:graphicData uri="http://schemas.openxmlformats.org/drawingml/2006/table">
            <a:tbl>
              <a:tblPr/>
              <a:tblGrid>
                <a:gridCol w="2651760"/>
                <a:gridCol w="3749040"/>
                <a:gridCol w="4507992"/>
              </a:tblGrid>
              <a:tr h="365760">
                <a:tc>
                  <a:txBody>
                    <a:bodyPr/>
                    <a:lstStyle/>
                    <a:p>
                      <a:pPr indent="0" marL="0">
                        <a:buNone/>
                      </a:pPr>
                      <a:r>
                        <a:rPr lang="en-US" sz="1400" b="1" dirty="0">
                          <a:solidFill>
                            <a:srgbClr val="9FB5A5"/>
                          </a:solidFill>
                          <a:latin typeface="Malgun Gothic" pitchFamily="34" charset="0"/>
                          <a:ea typeface="Malgun Gothic" pitchFamily="34" charset="-122"/>
                          <a:cs typeface="Malgun Gothic" pitchFamily="34" charset="-120"/>
                        </a:rPr>
                        <a:t>원칙</a:t>
                      </a:r>
                      <a:endParaRPr lang="en-US" sz="1400" dirty="0">
                        <a:latin typeface="Malgun Gothic" charset="0"/>
                        <a:ea typeface="Malgun Gothic" charset="0"/>
                        <a:cs typeface="Malgun Gothic" charset="0"/>
                      </a:endParaRPr>
                    </a:p>
                  </a:txBody>
                  <a:tcPr marL="109728" marR="109728" marT="45720" marB="45720">
                    <a:lnL w="0" cap="flat" cmpd="sng" algn="ctr">
                      <a:noFill/>
                    </a:lnL>
                    <a:lnR w="0" cap="flat" cmpd="sng" algn="ctr">
                      <a:noFill/>
                    </a:lnR>
                    <a:lnT w="0" cap="flat" cmpd="sng" algn="ctr">
                      <a:noFill/>
                    </a:lnT>
                    <a:lnB w="12700" cap="flat" cmpd="sng" algn="ctr">
                      <a:solidFill>
                        <a:srgbClr val="2F4A38"/>
                      </a:solidFill>
                      <a:prstDash val="solid"/>
                      <a:round/>
                      <a:headEnd type="none" w="med" len="med"/>
                      <a:tailEnd type="none" w="med" len="med"/>
                    </a:lnB>
                  </a:tcPr>
                </a:tc>
                <a:tc>
                  <a:txBody>
                    <a:bodyPr/>
                    <a:lstStyle/>
                    <a:p>
                      <a:pPr indent="0" marL="0">
                        <a:buNone/>
                      </a:pPr>
                      <a:r>
                        <a:rPr lang="en-US" sz="1400" b="1" dirty="0">
                          <a:solidFill>
                            <a:srgbClr val="9FB5A5"/>
                          </a:solidFill>
                          <a:latin typeface="Malgun Gothic" pitchFamily="34" charset="0"/>
                          <a:ea typeface="Malgun Gothic" pitchFamily="34" charset="-122"/>
                          <a:cs typeface="Malgun Gothic" pitchFamily="34" charset="-120"/>
                        </a:rPr>
                        <a:t>뜻</a:t>
                      </a:r>
                      <a:endParaRPr lang="en-US" sz="1400" dirty="0">
                        <a:latin typeface="Malgun Gothic" charset="0"/>
                        <a:ea typeface="Malgun Gothic" charset="0"/>
                        <a:cs typeface="Malgun Gothic" charset="0"/>
                      </a:endParaRPr>
                    </a:p>
                  </a:txBody>
                  <a:tcPr marL="109728" marR="109728" marT="45720" marB="45720">
                    <a:lnL w="0" cap="flat" cmpd="sng" algn="ctr">
                      <a:noFill/>
                    </a:lnL>
                    <a:lnR w="0" cap="flat" cmpd="sng" algn="ctr">
                      <a:noFill/>
                    </a:lnR>
                    <a:lnT w="0" cap="flat" cmpd="sng" algn="ctr">
                      <a:noFill/>
                    </a:lnT>
                    <a:lnB w="12700" cap="flat" cmpd="sng" algn="ctr">
                      <a:solidFill>
                        <a:srgbClr val="2F4A38"/>
                      </a:solidFill>
                      <a:prstDash val="solid"/>
                      <a:round/>
                      <a:headEnd type="none" w="med" len="med"/>
                      <a:tailEnd type="none" w="med" len="med"/>
                    </a:lnB>
                  </a:tcPr>
                </a:tc>
                <a:tc>
                  <a:txBody>
                    <a:bodyPr/>
                    <a:lstStyle/>
                    <a:p>
                      <a:pPr indent="0" marL="0">
                        <a:buNone/>
                      </a:pPr>
                      <a:r>
                        <a:rPr lang="en-US" sz="1400" b="1" dirty="0">
                          <a:solidFill>
                            <a:srgbClr val="9FB5A5"/>
                          </a:solidFill>
                          <a:latin typeface="Malgun Gothic" pitchFamily="34" charset="0"/>
                          <a:ea typeface="Malgun Gothic" pitchFamily="34" charset="-122"/>
                          <a:cs typeface="Malgun Gothic" pitchFamily="34" charset="-120"/>
                        </a:rPr>
                        <a:t>적용한 곳</a:t>
                      </a:r>
                      <a:endParaRPr lang="en-US" sz="1400" dirty="0">
                        <a:latin typeface="Malgun Gothic" charset="0"/>
                        <a:ea typeface="Malgun Gothic" charset="0"/>
                        <a:cs typeface="Malgun Gothic" charset="0"/>
                      </a:endParaRPr>
                    </a:p>
                  </a:txBody>
                  <a:tcPr marL="109728" marR="109728" marT="45720" marB="45720">
                    <a:lnL w="0" cap="flat" cmpd="sng" algn="ctr">
                      <a:noFill/>
                    </a:lnL>
                    <a:lnR w="0" cap="flat" cmpd="sng" algn="ctr">
                      <a:noFill/>
                    </a:lnR>
                    <a:lnT w="0" cap="flat" cmpd="sng" algn="ctr">
                      <a:noFill/>
                    </a:lnT>
                    <a:lnB w="12700" cap="flat" cmpd="sng" algn="ctr">
                      <a:solidFill>
                        <a:srgbClr val="2F4A38"/>
                      </a:solidFill>
                      <a:prstDash val="solid"/>
                      <a:round/>
                      <a:headEnd type="none" w="med" len="med"/>
                      <a:tailEnd type="none" w="med" len="med"/>
                    </a:lnB>
                  </a:tcPr>
                </a:tc>
              </a:tr>
              <a:tr h="713232">
                <a:tc>
                  <a:txBody>
                    <a:bodyPr/>
                    <a:lstStyle/>
                    <a:p>
                      <a:pPr indent="0" marL="0">
                        <a:buNone/>
                      </a:pPr>
                      <a:r>
                        <a:rPr lang="en-US" sz="1600" b="1" dirty="0">
                          <a:solidFill>
                            <a:schemeClr val="bg1"/>
                          </a:solidFill>
                          <a:latin typeface="Malgun Gothic" pitchFamily="34" charset="0"/>
                          <a:ea typeface="Malgun Gothic" pitchFamily="34" charset="-122"/>
                          <a:cs typeface="Malgun Gothic" pitchFamily="34" charset="-120"/>
                        </a:rPr>
                        <a:t>폰 레스토프 효과</a:t>
                      </a:r>
                      <a:endParaRPr lang="en-US" sz="16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2F4A38"/>
                      </a:solidFill>
                      <a:prstDash val="solid"/>
                      <a:round/>
                      <a:headEnd type="none" w="med" len="med"/>
                      <a:tailEnd type="none" w="med" len="med"/>
                    </a:lnB>
                  </a:tcPr>
                </a:tc>
                <a:tc>
                  <a:txBody>
                    <a:bodyPr/>
                    <a:lstStyle/>
                    <a:p>
                      <a:pPr indent="0" marL="0">
                        <a:buNone/>
                      </a:pPr>
                      <a:r>
                        <a:rPr lang="en-US" sz="1600" dirty="0">
                          <a:solidFill>
                            <a:srgbClr val="DBE7DE"/>
                          </a:solidFill>
                          <a:latin typeface="Malgun Gothic" pitchFamily="34" charset="0"/>
                          <a:ea typeface="Malgun Gothic" pitchFamily="34" charset="-122"/>
                          <a:cs typeface="Malgun Gothic" pitchFamily="34" charset="-120"/>
                        </a:rPr>
                        <a:t>다른 하나가 가장 기억에 남아요.</a:t>
                      </a:r>
                      <a:endParaRPr lang="en-US" sz="16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2F4A38"/>
                      </a:solidFill>
                      <a:prstDash val="solid"/>
                      <a:round/>
                      <a:headEnd type="none" w="med" len="med"/>
                      <a:tailEnd type="none" w="med" len="med"/>
                    </a:lnB>
                  </a:tcPr>
                </a:tc>
                <a:tc>
                  <a:txBody>
                    <a:bodyPr/>
                    <a:lstStyle/>
                    <a:p>
                      <a:pPr indent="0" marL="0">
                        <a:buNone/>
                      </a:pPr>
                      <a:r>
                        <a:rPr lang="en-US" sz="1600" dirty="0">
                          <a:solidFill>
                            <a:srgbClr val="DBE7DE"/>
                          </a:solidFill>
                          <a:latin typeface="Malgun Gothic" pitchFamily="34" charset="0"/>
                          <a:ea typeface="Malgun Gothic" pitchFamily="34" charset="-122"/>
                          <a:cs typeface="Malgun Gothic" pitchFamily="34" charset="-120"/>
                        </a:rPr>
                        <a:t>채운 초록 버튼은 글쓰기 하나뿐이에요.</a:t>
                      </a:r>
                      <a:endParaRPr lang="en-US" sz="16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2F4A38"/>
                      </a:solidFill>
                      <a:prstDash val="solid"/>
                      <a:round/>
                      <a:headEnd type="none" w="med" len="med"/>
                      <a:tailEnd type="none" w="med" len="med"/>
                    </a:lnB>
                  </a:tcPr>
                </a:tc>
              </a:tr>
              <a:tr h="713232">
                <a:tc>
                  <a:txBody>
                    <a:bodyPr/>
                    <a:lstStyle/>
                    <a:p>
                      <a:pPr indent="0" marL="0">
                        <a:buNone/>
                      </a:pPr>
                      <a:r>
                        <a:rPr lang="en-US" sz="1600" b="1" dirty="0">
                          <a:solidFill>
                            <a:schemeClr val="bg1"/>
                          </a:solidFill>
                          <a:latin typeface="Malgun Gothic" pitchFamily="34" charset="0"/>
                          <a:ea typeface="Malgun Gothic" pitchFamily="34" charset="-122"/>
                          <a:cs typeface="Malgun Gothic" pitchFamily="34" charset="-120"/>
                        </a:rPr>
                        <a:t>힉의 법칙</a:t>
                      </a:r>
                      <a:endParaRPr lang="en-US" sz="16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2F4A38"/>
                      </a:solidFill>
                      <a:prstDash val="solid"/>
                      <a:round/>
                      <a:headEnd type="none" w="med" len="med"/>
                      <a:tailEnd type="none" w="med" len="med"/>
                    </a:lnB>
                  </a:tcPr>
                </a:tc>
                <a:tc>
                  <a:txBody>
                    <a:bodyPr/>
                    <a:lstStyle/>
                    <a:p>
                      <a:pPr indent="0" marL="0">
                        <a:buNone/>
                      </a:pPr>
                      <a:r>
                        <a:rPr lang="en-US" sz="1600" dirty="0">
                          <a:solidFill>
                            <a:srgbClr val="DBE7DE"/>
                          </a:solidFill>
                          <a:latin typeface="Malgun Gothic" pitchFamily="34" charset="0"/>
                          <a:ea typeface="Malgun Gothic" pitchFamily="34" charset="-122"/>
                          <a:cs typeface="Malgun Gothic" pitchFamily="34" charset="-120"/>
                        </a:rPr>
                        <a:t>선택지가 많으면 오래 걸려요.</a:t>
                      </a:r>
                      <a:endParaRPr lang="en-US" sz="16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2F4A38"/>
                      </a:solidFill>
                      <a:prstDash val="solid"/>
                      <a:round/>
                      <a:headEnd type="none" w="med" len="med"/>
                      <a:tailEnd type="none" w="med" len="med"/>
                    </a:lnB>
                  </a:tcPr>
                </a:tc>
                <a:tc>
                  <a:txBody>
                    <a:bodyPr/>
                    <a:lstStyle/>
                    <a:p>
                      <a:pPr indent="0" marL="0">
                        <a:buNone/>
                      </a:pPr>
                      <a:r>
                        <a:rPr lang="en-US" sz="1600" dirty="0">
                          <a:solidFill>
                            <a:srgbClr val="DBE7DE"/>
                          </a:solidFill>
                          <a:latin typeface="Malgun Gothic" pitchFamily="34" charset="0"/>
                          <a:ea typeface="Malgun Gothic" pitchFamily="34" charset="-122"/>
                          <a:cs typeface="Malgun Gothic" pitchFamily="34" charset="-120"/>
                        </a:rPr>
                        <a:t>대메뉴 7개 중 5개만 헤더와 하단 탭에 꺼냈어요.</a:t>
                      </a:r>
                      <a:endParaRPr lang="en-US" sz="16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2F4A38"/>
                      </a:solidFill>
                      <a:prstDash val="solid"/>
                      <a:round/>
                      <a:headEnd type="none" w="med" len="med"/>
                      <a:tailEnd type="none" w="med" len="med"/>
                    </a:lnB>
                  </a:tcPr>
                </a:tc>
              </a:tr>
              <a:tr h="713232">
                <a:tc>
                  <a:txBody>
                    <a:bodyPr/>
                    <a:lstStyle/>
                    <a:p>
                      <a:pPr indent="0" marL="0">
                        <a:buNone/>
                      </a:pPr>
                      <a:r>
                        <a:rPr lang="en-US" sz="1600" b="1" dirty="0">
                          <a:solidFill>
                            <a:schemeClr val="bg1"/>
                          </a:solidFill>
                          <a:latin typeface="Malgun Gothic" pitchFamily="34" charset="0"/>
                          <a:ea typeface="Malgun Gothic" pitchFamily="34" charset="-122"/>
                          <a:cs typeface="Malgun Gothic" pitchFamily="34" charset="-120"/>
                        </a:rPr>
                        <a:t>피츠의 법칙</a:t>
                      </a:r>
                      <a:endParaRPr lang="en-US" sz="16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2F4A38"/>
                      </a:solidFill>
                      <a:prstDash val="solid"/>
                      <a:round/>
                      <a:headEnd type="none" w="med" len="med"/>
                      <a:tailEnd type="none" w="med" len="med"/>
                    </a:lnB>
                  </a:tcPr>
                </a:tc>
                <a:tc>
                  <a:txBody>
                    <a:bodyPr/>
                    <a:lstStyle/>
                    <a:p>
                      <a:pPr indent="0" marL="0">
                        <a:buNone/>
                      </a:pPr>
                      <a:r>
                        <a:rPr lang="en-US" sz="1600" dirty="0">
                          <a:solidFill>
                            <a:srgbClr val="DBE7DE"/>
                          </a:solidFill>
                          <a:latin typeface="Malgun Gothic" pitchFamily="34" charset="0"/>
                          <a:ea typeface="Malgun Gothic" pitchFamily="34" charset="-122"/>
                          <a:cs typeface="Malgun Gothic" pitchFamily="34" charset="-120"/>
                        </a:rPr>
                        <a:t>크고 가까울수록 쉽게 눌러요.</a:t>
                      </a:r>
                      <a:endParaRPr lang="en-US" sz="16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2F4A38"/>
                      </a:solidFill>
                      <a:prstDash val="solid"/>
                      <a:round/>
                      <a:headEnd type="none" w="med" len="med"/>
                      <a:tailEnd type="none" w="med" len="med"/>
                    </a:lnB>
                  </a:tcPr>
                </a:tc>
                <a:tc>
                  <a:txBody>
                    <a:bodyPr/>
                    <a:lstStyle/>
                    <a:p>
                      <a:pPr indent="0" marL="0">
                        <a:buNone/>
                      </a:pPr>
                      <a:r>
                        <a:rPr lang="en-US" sz="1600" dirty="0">
                          <a:solidFill>
                            <a:srgbClr val="DBE7DE"/>
                          </a:solidFill>
                          <a:latin typeface="Malgun Gothic" pitchFamily="34" charset="0"/>
                          <a:ea typeface="Malgun Gothic" pitchFamily="34" charset="-122"/>
                          <a:cs typeface="Malgun Gothic" pitchFamily="34" charset="-120"/>
                        </a:rPr>
                        <a:t>모바일 탭은 엄지 쪽 56px, 주요 버튼은 폭 전체예요.</a:t>
                      </a:r>
                      <a:endParaRPr lang="en-US" sz="16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2F4A38"/>
                      </a:solidFill>
                      <a:prstDash val="solid"/>
                      <a:round/>
                      <a:headEnd type="none" w="med" len="med"/>
                      <a:tailEnd type="none" w="med" len="med"/>
                    </a:lnB>
                  </a:tcPr>
                </a:tc>
              </a:tr>
              <a:tr h="713232">
                <a:tc>
                  <a:txBody>
                    <a:bodyPr/>
                    <a:lstStyle/>
                    <a:p>
                      <a:pPr indent="0" marL="0">
                        <a:buNone/>
                      </a:pPr>
                      <a:r>
                        <a:rPr lang="en-US" sz="1600" b="1" dirty="0">
                          <a:solidFill>
                            <a:schemeClr val="bg1"/>
                          </a:solidFill>
                          <a:latin typeface="Malgun Gothic" pitchFamily="34" charset="0"/>
                          <a:ea typeface="Malgun Gothic" pitchFamily="34" charset="-122"/>
                          <a:cs typeface="Malgun Gothic" pitchFamily="34" charset="-120"/>
                        </a:rPr>
                        <a:t>야콥의 법칙</a:t>
                      </a:r>
                      <a:endParaRPr lang="en-US" sz="16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2F4A38"/>
                      </a:solidFill>
                      <a:prstDash val="solid"/>
                      <a:round/>
                      <a:headEnd type="none" w="med" len="med"/>
                      <a:tailEnd type="none" w="med" len="med"/>
                    </a:lnB>
                  </a:tcPr>
                </a:tc>
                <a:tc>
                  <a:txBody>
                    <a:bodyPr/>
                    <a:lstStyle/>
                    <a:p>
                      <a:pPr indent="0" marL="0">
                        <a:buNone/>
                      </a:pPr>
                      <a:r>
                        <a:rPr lang="en-US" sz="1600" dirty="0">
                          <a:solidFill>
                            <a:srgbClr val="DBE7DE"/>
                          </a:solidFill>
                          <a:latin typeface="Malgun Gothic" pitchFamily="34" charset="0"/>
                          <a:ea typeface="Malgun Gothic" pitchFamily="34" charset="-122"/>
                          <a:cs typeface="Malgun Gothic" pitchFamily="34" charset="-120"/>
                        </a:rPr>
                        <a:t>익숙한 방식을 기대해요.</a:t>
                      </a:r>
                      <a:endParaRPr lang="en-US" sz="16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2F4A38"/>
                      </a:solidFill>
                      <a:prstDash val="solid"/>
                      <a:round/>
                      <a:headEnd type="none" w="med" len="med"/>
                      <a:tailEnd type="none" w="med" len="med"/>
                    </a:lnB>
                  </a:tcPr>
                </a:tc>
                <a:tc>
                  <a:txBody>
                    <a:bodyPr/>
                    <a:lstStyle/>
                    <a:p>
                      <a:pPr indent="0" marL="0">
                        <a:buNone/>
                      </a:pPr>
                      <a:r>
                        <a:rPr lang="en-US" sz="1600" dirty="0">
                          <a:solidFill>
                            <a:srgbClr val="DBE7DE"/>
                          </a:solidFill>
                          <a:latin typeface="Malgun Gothic" pitchFamily="34" charset="0"/>
                          <a:ea typeface="Malgun Gothic" pitchFamily="34" charset="-122"/>
                          <a:cs typeface="Malgun Gothic" pitchFamily="34" charset="-120"/>
                        </a:rPr>
                        <a:t>모바일 하단 탭, 상단 메뉴, 경로 표시를 따랐어요.</a:t>
                      </a:r>
                      <a:endParaRPr lang="en-US" sz="16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2F4A38"/>
                      </a:solidFill>
                      <a:prstDash val="solid"/>
                      <a:round/>
                      <a:headEnd type="none" w="med" len="med"/>
                      <a:tailEnd type="none" w="med" len="med"/>
                    </a:lnB>
                  </a:tcPr>
                </a:tc>
              </a:tr>
              <a:tr h="713232">
                <a:tc>
                  <a:txBody>
                    <a:bodyPr/>
                    <a:lstStyle/>
                    <a:p>
                      <a:pPr indent="0" marL="0">
                        <a:buNone/>
                      </a:pPr>
                      <a:r>
                        <a:rPr lang="en-US" sz="1600" b="1" dirty="0">
                          <a:solidFill>
                            <a:schemeClr val="bg1"/>
                          </a:solidFill>
                          <a:latin typeface="Malgun Gothic" pitchFamily="34" charset="0"/>
                          <a:ea typeface="Malgun Gothic" pitchFamily="34" charset="-122"/>
                          <a:cs typeface="Malgun Gothic" pitchFamily="34" charset="-120"/>
                        </a:rPr>
                        <a:t>근접성의 법칙</a:t>
                      </a:r>
                      <a:endParaRPr lang="en-US" sz="16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2F4A38"/>
                      </a:solidFill>
                      <a:prstDash val="solid"/>
                      <a:round/>
                      <a:headEnd type="none" w="med" len="med"/>
                      <a:tailEnd type="none" w="med" len="med"/>
                    </a:lnB>
                  </a:tcPr>
                </a:tc>
                <a:tc>
                  <a:txBody>
                    <a:bodyPr/>
                    <a:lstStyle/>
                    <a:p>
                      <a:pPr indent="0" marL="0">
                        <a:buNone/>
                      </a:pPr>
                      <a:r>
                        <a:rPr lang="en-US" sz="1600" dirty="0">
                          <a:solidFill>
                            <a:srgbClr val="DBE7DE"/>
                          </a:solidFill>
                          <a:latin typeface="Malgun Gothic" pitchFamily="34" charset="0"/>
                          <a:ea typeface="Malgun Gothic" pitchFamily="34" charset="-122"/>
                          <a:cs typeface="Malgun Gothic" pitchFamily="34" charset="-120"/>
                        </a:rPr>
                        <a:t>가까운 것끼리 한 묶음으로 읽혀요.</a:t>
                      </a:r>
                      <a:endParaRPr lang="en-US" sz="16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2F4A38"/>
                      </a:solidFill>
                      <a:prstDash val="solid"/>
                      <a:round/>
                      <a:headEnd type="none" w="med" len="med"/>
                      <a:tailEnd type="none" w="med" len="med"/>
                    </a:lnB>
                  </a:tcPr>
                </a:tc>
                <a:tc>
                  <a:txBody>
                    <a:bodyPr/>
                    <a:lstStyle/>
                    <a:p>
                      <a:pPr indent="0" marL="0">
                        <a:buNone/>
                      </a:pPr>
                      <a:r>
                        <a:rPr lang="en-US" sz="1600" dirty="0">
                          <a:solidFill>
                            <a:srgbClr val="DBE7DE"/>
                          </a:solidFill>
                          <a:latin typeface="Malgun Gothic" pitchFamily="34" charset="0"/>
                          <a:ea typeface="Malgun Gothic" pitchFamily="34" charset="-122"/>
                          <a:cs typeface="Malgun Gothic" pitchFamily="34" charset="-120"/>
                        </a:rPr>
                        <a:t>진행 안내와 기록글 버튼을 붙여 두었어요.</a:t>
                      </a:r>
                      <a:endParaRPr lang="en-US" sz="16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2F4A3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9FB5A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908792" cy="1005840"/>
          </a:xfrm>
          <a:prstGeom prst="rect">
            <a:avLst/>
          </a:prstGeom>
          <a:noFill/>
          <a:ln/>
        </p:spPr>
        <p:txBody>
          <a:bodyPr wrap="square" rtlCol="0" anchor="t"/>
          <a:lstStyle/>
          <a:p>
            <a:pPr algn="l" indent="0" marL="0">
              <a:buNone/>
            </a:pPr>
            <a:r>
              <a:rPr lang="en-US" sz="3600" b="1" dirty="0">
                <a:solidFill>
                  <a:schemeClr val="tx1"/>
                </a:solidFill>
              </a:rPr>
              <a:t>내 컴퓨터에서 실행하는 방법</a:t>
            </a:r>
            <a:endParaRPr lang="en-US" sz="3600" dirty="0"/>
          </a:p>
        </p:txBody>
      </p:sp>
      <p:sp>
        <p:nvSpPr>
          <p:cNvPr id="3" name="run-card-1"/>
          <p:cNvSpPr/>
          <p:nvPr/>
        </p:nvSpPr>
        <p:spPr>
          <a:xfrm>
            <a:off x="640080" y="1783080"/>
            <a:ext cx="5271516" cy="1737360"/>
          </a:xfrm>
          <a:prstGeom prst="roundRect">
            <a:avLst>
              <a:gd name="adj" fmla="val 6316"/>
            </a:avLst>
          </a:prstGeom>
          <a:solidFill>
            <a:schemeClr val="tx2"/>
          </a:solidFill>
          <a:ln w="12700">
            <a:solidFill>
              <a:schemeClr val="tx2"/>
            </a:solidFill>
            <a:prstDash val="solid"/>
          </a:ln>
        </p:spPr>
      </p:sp>
      <p:sp>
        <p:nvSpPr>
          <p:cNvPr id="4" name="Text 2"/>
          <p:cNvSpPr txBox="1"/>
          <p:nvPr/>
        </p:nvSpPr>
        <p:spPr>
          <a:xfrm>
            <a:off x="1005840" y="1965960"/>
            <a:ext cx="4539996" cy="365760"/>
          </a:xfrm>
          <a:prstGeom prst="rect">
            <a:avLst/>
          </a:prstGeom>
          <a:noFill/>
          <a:ln/>
        </p:spPr>
        <p:txBody>
          <a:bodyPr wrap="square" lIns="0" tIns="0" rIns="0" bIns="0" rtlCol="0" anchor="ctr"/>
          <a:lstStyle/>
          <a:p>
            <a:pPr indent="0" marL="0">
              <a:buNone/>
            </a:pPr>
            <a:r>
              <a:rPr lang="en-US" sz="1400" b="1" dirty="0">
                <a:solidFill>
                  <a:schemeClr val="accent2"/>
                </a:solidFill>
                <a:latin typeface="Malgun Gothic" pitchFamily="34" charset="0"/>
                <a:ea typeface="Malgun Gothic" pitchFamily="34" charset="-122"/>
                <a:cs typeface="Malgun Gothic" pitchFamily="34" charset="-120"/>
              </a:rPr>
              <a:t>서버 폴더에서</a:t>
            </a:r>
            <a:endParaRPr lang="en-US" sz="1400" dirty="0"/>
          </a:p>
        </p:txBody>
      </p:sp>
      <p:sp>
        <p:nvSpPr>
          <p:cNvPr id="5" name="Text 3"/>
          <p:cNvSpPr txBox="1"/>
          <p:nvPr/>
        </p:nvSpPr>
        <p:spPr>
          <a:xfrm>
            <a:off x="1005840" y="2423160"/>
            <a:ext cx="4539996" cy="914400"/>
          </a:xfrm>
          <a:prstGeom prst="rect">
            <a:avLst/>
          </a:prstGeom>
          <a:noFill/>
          <a:ln/>
        </p:spPr>
        <p:txBody>
          <a:bodyPr wrap="square" lIns="0" tIns="0" rIns="0" bIns="0" rtlCol="0" anchor="t"/>
          <a:lstStyle/>
          <a:p>
            <a:pPr indent="0" marL="0">
              <a:buNone/>
            </a:pPr>
            <a:r>
              <a:rPr lang="en-US" sz="1800" dirty="0">
                <a:solidFill>
                  <a:srgbClr val="E3F1E8"/>
                </a:solidFill>
                <a:latin typeface="Courier New" pitchFamily="34" charset="0"/>
                <a:ea typeface="Courier New" pitchFamily="34" charset="-122"/>
                <a:cs typeface="Courier New" pitchFamily="34" charset="-120"/>
              </a:rPr>
              <a:t>docker compose up -d</a:t>
            </a:r>
            <a:endParaRPr lang="en-US" sz="1800" dirty="0"/>
          </a:p>
          <a:p>
            <a:pPr indent="0" marL="0">
              <a:buNone/>
            </a:pPr>
            <a:r>
              <a:rPr lang="en-US" sz="1800" dirty="0">
                <a:solidFill>
                  <a:srgbClr val="E3F1E8"/>
                </a:solidFill>
                <a:latin typeface="Courier New" pitchFamily="34" charset="0"/>
                <a:ea typeface="Courier New" pitchFamily="34" charset="-122"/>
                <a:cs typeface="Courier New" pitchFamily="34" charset="-120"/>
              </a:rPr>
              <a:t>./gradlew bootRun</a:t>
            </a:r>
            <a:endParaRPr lang="en-US" sz="1800" dirty="0"/>
          </a:p>
        </p:txBody>
      </p:sp>
      <p:sp>
        <p:nvSpPr>
          <p:cNvPr id="6" name="run-card-2"/>
          <p:cNvSpPr/>
          <p:nvPr/>
        </p:nvSpPr>
        <p:spPr>
          <a:xfrm>
            <a:off x="6277356" y="1783080"/>
            <a:ext cx="5271516" cy="1737360"/>
          </a:xfrm>
          <a:prstGeom prst="roundRect">
            <a:avLst>
              <a:gd name="adj" fmla="val 6316"/>
            </a:avLst>
          </a:prstGeom>
          <a:solidFill>
            <a:schemeClr val="tx2"/>
          </a:solidFill>
          <a:ln w="12700">
            <a:solidFill>
              <a:schemeClr val="tx2"/>
            </a:solidFill>
            <a:prstDash val="solid"/>
          </a:ln>
        </p:spPr>
      </p:sp>
      <p:sp>
        <p:nvSpPr>
          <p:cNvPr id="7" name="Text 5"/>
          <p:cNvSpPr txBox="1"/>
          <p:nvPr/>
        </p:nvSpPr>
        <p:spPr>
          <a:xfrm>
            <a:off x="6643116" y="1965960"/>
            <a:ext cx="4539996" cy="365760"/>
          </a:xfrm>
          <a:prstGeom prst="rect">
            <a:avLst/>
          </a:prstGeom>
          <a:noFill/>
          <a:ln/>
        </p:spPr>
        <p:txBody>
          <a:bodyPr wrap="square" lIns="0" tIns="0" rIns="0" bIns="0" rtlCol="0" anchor="ctr"/>
          <a:lstStyle/>
          <a:p>
            <a:pPr indent="0" marL="0">
              <a:buNone/>
            </a:pPr>
            <a:r>
              <a:rPr lang="en-US" sz="1400" b="1" dirty="0">
                <a:solidFill>
                  <a:schemeClr val="accent2"/>
                </a:solidFill>
                <a:latin typeface="Malgun Gothic" pitchFamily="34" charset="0"/>
                <a:ea typeface="Malgun Gothic" pitchFamily="34" charset="-122"/>
                <a:cs typeface="Malgun Gothic" pitchFamily="34" charset="-120"/>
              </a:rPr>
              <a:t>화면 폴더에서</a:t>
            </a:r>
            <a:endParaRPr lang="en-US" sz="1400" dirty="0"/>
          </a:p>
        </p:txBody>
      </p:sp>
      <p:sp>
        <p:nvSpPr>
          <p:cNvPr id="8" name="Text 6"/>
          <p:cNvSpPr txBox="1"/>
          <p:nvPr/>
        </p:nvSpPr>
        <p:spPr>
          <a:xfrm>
            <a:off x="6643116" y="2423160"/>
            <a:ext cx="4539996" cy="914400"/>
          </a:xfrm>
          <a:prstGeom prst="rect">
            <a:avLst/>
          </a:prstGeom>
          <a:noFill/>
          <a:ln/>
        </p:spPr>
        <p:txBody>
          <a:bodyPr wrap="square" lIns="0" tIns="0" rIns="0" bIns="0" rtlCol="0" anchor="t"/>
          <a:lstStyle/>
          <a:p>
            <a:pPr indent="0" marL="0">
              <a:buNone/>
            </a:pPr>
            <a:r>
              <a:rPr lang="en-US" sz="1800" dirty="0">
                <a:solidFill>
                  <a:srgbClr val="E3F1E8"/>
                </a:solidFill>
                <a:latin typeface="Courier New" pitchFamily="34" charset="0"/>
                <a:ea typeface="Courier New" pitchFamily="34" charset="-122"/>
                <a:cs typeface="Courier New" pitchFamily="34" charset="-120"/>
              </a:rPr>
              <a:t>npm ci</a:t>
            </a:r>
            <a:endParaRPr lang="en-US" sz="1800" dirty="0"/>
          </a:p>
          <a:p>
            <a:pPr indent="0" marL="0">
              <a:buNone/>
            </a:pPr>
            <a:r>
              <a:rPr lang="en-US" sz="1800" dirty="0">
                <a:solidFill>
                  <a:srgbClr val="E3F1E8"/>
                </a:solidFill>
                <a:latin typeface="Courier New" pitchFamily="34" charset="0"/>
                <a:ea typeface="Courier New" pitchFamily="34" charset="-122"/>
                <a:cs typeface="Courier New" pitchFamily="34" charset="-120"/>
              </a:rPr>
              <a:t>npm run dev -- --port 5180</a:t>
            </a:r>
            <a:endParaRPr lang="en-US" sz="1800" dirty="0"/>
          </a:p>
        </p:txBody>
      </p:sp>
      <p:graphicFrame>
        <p:nvGraphicFramePr>
          <p:cNvPr id="12" name="run-table"/>
          <p:cNvGraphicFramePr>
            <a:graphicFrameLocks noGrp="1"/>
          </p:cNvGraphicFramePr>
          <p:nvPr>
            <p:extLst>
              <p:ext uri="{D42A27DB-BD31-4B8C-83A1-F6EECF244321}">
                <p14:modId xmlns:p14="http://schemas.microsoft.com/office/powerpoint/2010/main" val="1579011935"/>
              </p:ext>
            </p:extLst>
          </p:nvPr>
        </p:nvGraphicFramePr>
        <p:xfrm>
          <a:off x="640080" y="3977640"/>
          <a:ext cx="10908792" cy="914400"/>
        </p:xfrm>
        <a:graphic>
          <a:graphicData uri="http://schemas.openxmlformats.org/drawingml/2006/table">
            <a:tbl>
              <a:tblPr/>
              <a:tblGrid>
                <a:gridCol w="2011680"/>
                <a:gridCol w="4754880"/>
                <a:gridCol w="4142232"/>
              </a:tblGrid>
              <a:tr h="365760">
                <a:tc>
                  <a:txBody>
                    <a:bodyPr/>
                    <a:lstStyle/>
                    <a:p>
                      <a:pPr indent="0" marL="0">
                        <a:buNone/>
                      </a:pPr>
                      <a:r>
                        <a:rPr lang="en-US" sz="1400" b="1" dirty="0">
                          <a:solidFill>
                            <a:schemeClr val="accent6"/>
                          </a:solidFill>
                        </a:rPr>
                        <a:t>이름</a:t>
                      </a:r>
                      <a:endParaRPr lang="en-US" sz="1400" dirty="0"/>
                    </a:p>
                  </a:txBody>
                  <a:tcPr marL="109728" marR="109728" marT="45720" marB="45720">
                    <a:lnL w="0" cap="flat" cmpd="sng" algn="ctr">
                      <a:noFill/>
                    </a:lnL>
                    <a:lnR w="0" cap="flat" cmpd="sng" algn="ctr">
                      <a:noFill/>
                    </a:lnR>
                    <a:lnT w="0" cap="flat" cmpd="sng" algn="ctr">
                      <a:noFill/>
                    </a:lnT>
                    <a:lnB w="12700" cap="flat" cmpd="sng" algn="ctr">
                      <a:solidFill>
                        <a:srgbClr val="DDE4DE"/>
                      </a:solidFill>
                      <a:prstDash val="solid"/>
                      <a:round/>
                      <a:headEnd type="none" w="med" len="med"/>
                      <a:tailEnd type="none" w="med" len="med"/>
                    </a:lnB>
                  </a:tcPr>
                </a:tc>
                <a:tc>
                  <a:txBody>
                    <a:bodyPr/>
                    <a:lstStyle/>
                    <a:p>
                      <a:pPr indent="0" marL="0">
                        <a:buNone/>
                      </a:pPr>
                      <a:r>
                        <a:rPr lang="en-US" sz="1400" b="1" dirty="0">
                          <a:solidFill>
                            <a:schemeClr val="accent6"/>
                          </a:solidFill>
                        </a:rPr>
                        <a:t>주소</a:t>
                      </a:r>
                      <a:endParaRPr lang="en-US" sz="1400" dirty="0"/>
                    </a:p>
                  </a:txBody>
                  <a:tcPr marL="109728" marR="109728" marT="45720" marB="45720">
                    <a:lnL w="0" cap="flat" cmpd="sng" algn="ctr">
                      <a:noFill/>
                    </a:lnL>
                    <a:lnR w="0" cap="flat" cmpd="sng" algn="ctr">
                      <a:noFill/>
                    </a:lnR>
                    <a:lnT w="0" cap="flat" cmpd="sng" algn="ctr">
                      <a:noFill/>
                    </a:lnT>
                    <a:lnB w="12700" cap="flat" cmpd="sng" algn="ctr">
                      <a:solidFill>
                        <a:srgbClr val="DDE4DE"/>
                      </a:solidFill>
                      <a:prstDash val="solid"/>
                      <a:round/>
                      <a:headEnd type="none" w="med" len="med"/>
                      <a:tailEnd type="none" w="med" len="med"/>
                    </a:lnB>
                  </a:tcPr>
                </a:tc>
                <a:tc>
                  <a:txBody>
                    <a:bodyPr/>
                    <a:lstStyle/>
                    <a:p>
                      <a:pPr indent="0" marL="0">
                        <a:buNone/>
                      </a:pPr>
                      <a:r>
                        <a:rPr lang="en-US" sz="1400" b="1" dirty="0">
                          <a:solidFill>
                            <a:schemeClr val="accent6"/>
                          </a:solidFill>
                        </a:rPr>
                        <a:t>하는 일</a:t>
                      </a:r>
                      <a:endParaRPr lang="en-US" sz="1400" dirty="0"/>
                    </a:p>
                  </a:txBody>
                  <a:tcPr marL="109728" marR="109728" marT="45720" marB="45720">
                    <a:lnL w="0" cap="flat" cmpd="sng" algn="ctr">
                      <a:noFill/>
                    </a:lnL>
                    <a:lnR w="0" cap="flat" cmpd="sng" algn="ctr">
                      <a:noFill/>
                    </a:lnR>
                    <a:lnT w="0" cap="flat" cmpd="sng" algn="ctr">
                      <a:noFill/>
                    </a:lnT>
                    <a:lnB w="12700" cap="flat" cmpd="sng" algn="ctr">
                      <a:solidFill>
                        <a:srgbClr val="DDE4DE"/>
                      </a:solidFill>
                      <a:prstDash val="solid"/>
                      <a:round/>
                      <a:headEnd type="none" w="med" len="med"/>
                      <a:tailEnd type="none" w="med" len="med"/>
                    </a:lnB>
                  </a:tcPr>
                </a:tc>
              </a:tr>
              <a:tr h="502920">
                <a:tc>
                  <a:txBody>
                    <a:bodyPr/>
                    <a:lstStyle/>
                    <a:p>
                      <a:pPr indent="0" marL="0">
                        <a:buNone/>
                      </a:pPr>
                      <a:r>
                        <a:rPr lang="en-US" sz="1600" b="1" dirty="0">
                          <a:solidFill>
                            <a:schemeClr val="tx1"/>
                          </a:solidFill>
                          <a:latin typeface="Malgun Gothic" pitchFamily="34" charset="0"/>
                          <a:ea typeface="Malgun Gothic" pitchFamily="34" charset="-122"/>
                          <a:cs typeface="Malgun Gothic" pitchFamily="34" charset="-120"/>
                        </a:rPr>
                        <a:t>화면</a:t>
                      </a:r>
                      <a:endParaRPr lang="en-US" sz="16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DDE4DE"/>
                      </a:solidFill>
                      <a:prstDash val="solid"/>
                      <a:round/>
                      <a:headEnd type="none" w="med" len="med"/>
                      <a:tailEnd type="none" w="med" len="med"/>
                    </a:lnB>
                  </a:tcPr>
                </a:tc>
                <a:tc>
                  <a:txBody>
                    <a:bodyPr/>
                    <a:lstStyle/>
                    <a:p>
                      <a:pPr indent="0" marL="0">
                        <a:buNone/>
                      </a:pPr>
                      <a:r>
                        <a:rPr lang="en-US" sz="1600" dirty="0">
                          <a:solidFill>
                            <a:schemeClr val="tx1"/>
                          </a:solidFill>
                          <a:latin typeface="Courier New" pitchFamily="34" charset="0"/>
                          <a:ea typeface="Courier New" pitchFamily="34" charset="-122"/>
                          <a:cs typeface="Courier New" pitchFamily="34" charset="-120"/>
                        </a:rPr>
                        <a:t>http://localhost:5180</a:t>
                      </a:r>
                      <a:endParaRPr lang="en-US" sz="1600" dirty="0">
                        <a:latin typeface="Courier New" charset="0"/>
                        <a:ea typeface="Courier New" charset="0"/>
                        <a:cs typeface="Courier New"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DDE4DE"/>
                      </a:solidFill>
                      <a:prstDash val="solid"/>
                      <a:round/>
                      <a:headEnd type="none" w="med" len="med"/>
                      <a:tailEnd type="none" w="med" len="med"/>
                    </a:lnB>
                  </a:tcPr>
                </a:tc>
                <a:tc>
                  <a:txBody>
                    <a:bodyPr/>
                    <a:lstStyle/>
                    <a:p>
                      <a:pPr indent="0" marL="0">
                        <a:buNone/>
                      </a:pPr>
                      <a:r>
                        <a:rPr lang="en-US" sz="1600" dirty="0">
                          <a:solidFill>
                            <a:schemeClr val="tx1"/>
                          </a:solidFill>
                          <a:latin typeface="Malgun Gothic" pitchFamily="34" charset="0"/>
                          <a:ea typeface="Malgun Gothic" pitchFamily="34" charset="-122"/>
                          <a:cs typeface="Malgun Gothic" pitchFamily="34" charset="-120"/>
                        </a:rPr>
                        <a:t>브라우저로 보는 서비스</a:t>
                      </a:r>
                      <a:endParaRPr lang="en-US" sz="16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DDE4DE"/>
                      </a:solidFill>
                      <a:prstDash val="solid"/>
                      <a:round/>
                      <a:headEnd type="none" w="med" len="med"/>
                      <a:tailEnd type="none" w="med" len="med"/>
                    </a:lnB>
                  </a:tcPr>
                </a:tc>
              </a:tr>
              <a:tr h="502920">
                <a:tc>
                  <a:txBody>
                    <a:bodyPr/>
                    <a:lstStyle/>
                    <a:p>
                      <a:pPr indent="0" marL="0">
                        <a:buNone/>
                      </a:pPr>
                      <a:r>
                        <a:rPr lang="en-US" sz="1600" b="1" dirty="0">
                          <a:solidFill>
                            <a:schemeClr val="tx1"/>
                          </a:solidFill>
                          <a:latin typeface="Malgun Gothic" pitchFamily="34" charset="0"/>
                          <a:ea typeface="Malgun Gothic" pitchFamily="34" charset="-122"/>
                          <a:cs typeface="Malgun Gothic" pitchFamily="34" charset="-120"/>
                        </a:rPr>
                        <a:t>서버</a:t>
                      </a:r>
                      <a:endParaRPr lang="en-US" sz="16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DDE4DE"/>
                      </a:solidFill>
                      <a:prstDash val="solid"/>
                      <a:round/>
                      <a:headEnd type="none" w="med" len="med"/>
                      <a:tailEnd type="none" w="med" len="med"/>
                    </a:lnB>
                  </a:tcPr>
                </a:tc>
                <a:tc>
                  <a:txBody>
                    <a:bodyPr/>
                    <a:lstStyle/>
                    <a:p>
                      <a:pPr indent="0" marL="0">
                        <a:buNone/>
                      </a:pPr>
                      <a:r>
                        <a:rPr lang="en-US" sz="1600" dirty="0">
                          <a:solidFill>
                            <a:schemeClr val="tx1"/>
                          </a:solidFill>
                          <a:latin typeface="Courier New" pitchFamily="34" charset="0"/>
                          <a:ea typeface="Courier New" pitchFamily="34" charset="-122"/>
                          <a:cs typeface="Courier New" pitchFamily="34" charset="-120"/>
                        </a:rPr>
                        <a:t>http://localhost:8080</a:t>
                      </a:r>
                      <a:endParaRPr lang="en-US" sz="1600" dirty="0">
                        <a:latin typeface="Courier New" charset="0"/>
                        <a:ea typeface="Courier New" charset="0"/>
                        <a:cs typeface="Courier New"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DDE4DE"/>
                      </a:solidFill>
                      <a:prstDash val="solid"/>
                      <a:round/>
                      <a:headEnd type="none" w="med" len="med"/>
                      <a:tailEnd type="none" w="med" len="med"/>
                    </a:lnB>
                  </a:tcPr>
                </a:tc>
                <a:tc>
                  <a:txBody>
                    <a:bodyPr/>
                    <a:lstStyle/>
                    <a:p>
                      <a:pPr indent="0" marL="0">
                        <a:buNone/>
                      </a:pPr>
                      <a:r>
                        <a:rPr lang="en-US" sz="1600" dirty="0">
                          <a:solidFill>
                            <a:schemeClr val="tx1"/>
                          </a:solidFill>
                          <a:latin typeface="Malgun Gothic" pitchFamily="34" charset="0"/>
                          <a:ea typeface="Malgun Gothic" pitchFamily="34" charset="-122"/>
                          <a:cs typeface="Malgun Gothic" pitchFamily="34" charset="-120"/>
                        </a:rPr>
                        <a:t>규칙과 데이터</a:t>
                      </a:r>
                      <a:endParaRPr lang="en-US" sz="1600" dirty="0">
                        <a:latin typeface="Malgun Gothic" charset="0"/>
                        <a:ea typeface="Malgun Gothic" charset="0"/>
                        <a:cs typeface="Malgun Gothic" charset="0"/>
                      </a:endParaRPr>
                    </a:p>
                  </a:txBody>
                  <a:tcPr marL="109728" marR="109728" marT="45720" marB="45720" anchor="ctr">
                    <a:lnL w="0" cap="flat" cmpd="sng" algn="ctr">
                      <a:noFill/>
                    </a:lnL>
                    <a:lnR w="0" cap="flat" cmpd="sng" algn="ctr">
                      <a:noFill/>
                    </a:lnR>
                    <a:lnT w="0" cap="flat" cmpd="sng" algn="ctr">
                      <a:noFill/>
                    </a:lnT>
                    <a:lnB w="12700" cap="flat" cmpd="sng" algn="ctr">
                      <a:solidFill>
                        <a:srgbClr val="DDE4D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C77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1097280"/>
            <a:ext cx="4572000" cy="457200"/>
          </a:xfrm>
          <a:prstGeom prst="rect">
            <a:avLst/>
          </a:prstGeom>
          <a:noFill/>
          <a:ln/>
        </p:spPr>
        <p:txBody>
          <a:bodyPr wrap="square" lIns="0" tIns="0" rIns="0" bIns="0" rtlCol="0" anchor="ctr"/>
          <a:lstStyle/>
          <a:p>
            <a:pPr indent="0" marL="0">
              <a:buNone/>
            </a:pPr>
            <a:r>
              <a:rPr lang="en-US" sz="1800" b="1" dirty="0">
                <a:solidFill>
                  <a:srgbClr val="BFE2CC"/>
                </a:solidFill>
                <a:latin typeface="Malgun Gothic" pitchFamily="34" charset="0"/>
                <a:ea typeface="Malgun Gothic" pitchFamily="34" charset="-122"/>
                <a:cs typeface="Malgun Gothic" pitchFamily="34" charset="-120"/>
              </a:rPr>
              <a:t>한 줄 요약</a:t>
            </a:r>
            <a:endParaRPr lang="en-US" sz="1800" dirty="0"/>
          </a:p>
        </p:txBody>
      </p:sp>
      <p:sp>
        <p:nvSpPr>
          <p:cNvPr id="3" name="Text 0"/>
          <p:cNvSpPr/>
          <p:nvPr>
            <p:ph idx="100" type="title" hasCustomPrompt="1"/>
          </p:nvPr>
        </p:nvSpPr>
        <p:spPr>
          <a:xfrm>
            <a:off x="640080" y="1828800"/>
            <a:ext cx="10241280" cy="2194560"/>
          </a:xfrm>
          <a:prstGeom prst="rect">
            <a:avLst/>
          </a:prstGeom>
          <a:noFill/>
          <a:ln/>
        </p:spPr>
        <p:txBody>
          <a:bodyPr wrap="square" rtlCol="0" anchor="t"/>
          <a:lstStyle/>
          <a:p>
            <a:pPr algn="l" indent="0" marL="0">
              <a:buNone/>
            </a:pPr>
            <a:r>
              <a:rPr lang="en-US" sz="4800" b="1" dirty="0">
                <a:solidFill>
                  <a:schemeClr val="bg1"/>
                </a:solidFill>
              </a:rPr>
              <a:t>잔디는 모으고,</a:t>
            </a:r>
            <a:endParaRPr lang="en-US" sz="4800" dirty="0"/>
          </a:p>
          <a:p>
            <a:pPr algn="l" indent="0" marL="0">
              <a:buNone/>
            </a:pPr>
            <a:r>
              <a:rPr lang="en-US" sz="4800" b="1" dirty="0">
                <a:solidFill>
                  <a:schemeClr val="bg1"/>
                </a:solidFill>
              </a:rPr>
              <a:t>서버는 판정하고,</a:t>
            </a:r>
            <a:endParaRPr lang="en-US" sz="4800" dirty="0"/>
          </a:p>
          <a:p>
            <a:pPr algn="l" indent="0" marL="0">
              <a:buNone/>
            </a:pPr>
            <a:r>
              <a:rPr lang="en-US" sz="4800" b="1" dirty="0">
                <a:solidFill>
                  <a:schemeClr val="bg1"/>
                </a:solidFill>
              </a:rPr>
              <a:t>사람은 글을 써요</a:t>
            </a:r>
            <a:endParaRPr lang="en-US" sz="4800" dirty="0"/>
          </a:p>
        </p:txBody>
      </p:sp>
      <p:sp>
        <p:nvSpPr>
          <p:cNvPr id="4" name="pill-1"/>
          <p:cNvSpPr/>
          <p:nvPr/>
        </p:nvSpPr>
        <p:spPr>
          <a:xfrm>
            <a:off x="640080" y="4572000"/>
            <a:ext cx="2103120" cy="640080"/>
          </a:xfrm>
          <a:prstGeom prst="roundRect">
            <a:avLst>
              <a:gd name="adj" fmla="val 50000"/>
            </a:avLst>
          </a:prstGeom>
          <a:solidFill>
            <a:srgbClr val="14502B"/>
          </a:solidFill>
          <a:ln w="12700">
            <a:solidFill>
              <a:srgbClr val="14502B"/>
            </a:solidFill>
            <a:prstDash val="solid"/>
          </a:ln>
        </p:spPr>
      </p:sp>
      <p:sp>
        <p:nvSpPr>
          <p:cNvPr id="5" name="Text 3"/>
          <p:cNvSpPr txBox="1"/>
          <p:nvPr/>
        </p:nvSpPr>
        <p:spPr>
          <a:xfrm>
            <a:off x="640080" y="4572000"/>
            <a:ext cx="2103120" cy="640080"/>
          </a:xfrm>
          <a:prstGeom prst="rect">
            <a:avLst/>
          </a:prstGeom>
          <a:noFill/>
          <a:ln/>
        </p:spPr>
        <p:txBody>
          <a:bodyPr wrap="square" lIns="0" tIns="0" rIns="0" bIns="0" rtlCol="0" anchor="ctr"/>
          <a:lstStyle/>
          <a:p>
            <a:pPr algn="ctr" indent="0" marL="0">
              <a:buNone/>
            </a:pPr>
            <a:r>
              <a:rPr lang="en-US" sz="1800" dirty="0">
                <a:solidFill>
                  <a:schemeClr val="bg1"/>
                </a:solidFill>
                <a:latin typeface="Malgun Gothic" pitchFamily="34" charset="0"/>
                <a:ea typeface="Malgun Gothic" pitchFamily="34" charset="-122"/>
                <a:cs typeface="Malgun Gothic" pitchFamily="34" charset="-120"/>
              </a:rPr>
              <a:t>인증일 3일</a:t>
            </a:r>
            <a:endParaRPr lang="en-US" sz="1800" dirty="0"/>
          </a:p>
        </p:txBody>
      </p:sp>
      <p:sp>
        <p:nvSpPr>
          <p:cNvPr id="6" name="pill-2"/>
          <p:cNvSpPr/>
          <p:nvPr/>
        </p:nvSpPr>
        <p:spPr>
          <a:xfrm>
            <a:off x="3017520" y="4572000"/>
            <a:ext cx="2103120" cy="640080"/>
          </a:xfrm>
          <a:prstGeom prst="roundRect">
            <a:avLst>
              <a:gd name="adj" fmla="val 50000"/>
            </a:avLst>
          </a:prstGeom>
          <a:solidFill>
            <a:srgbClr val="14502B"/>
          </a:solidFill>
          <a:ln w="12700">
            <a:solidFill>
              <a:srgbClr val="14502B"/>
            </a:solidFill>
            <a:prstDash val="solid"/>
          </a:ln>
        </p:spPr>
      </p:sp>
      <p:sp>
        <p:nvSpPr>
          <p:cNvPr id="7" name="Text 5"/>
          <p:cNvSpPr txBox="1"/>
          <p:nvPr/>
        </p:nvSpPr>
        <p:spPr>
          <a:xfrm>
            <a:off x="3017520" y="4572000"/>
            <a:ext cx="2103120" cy="640080"/>
          </a:xfrm>
          <a:prstGeom prst="rect">
            <a:avLst/>
          </a:prstGeom>
          <a:noFill/>
          <a:ln/>
        </p:spPr>
        <p:txBody>
          <a:bodyPr wrap="square" lIns="0" tIns="0" rIns="0" bIns="0" rtlCol="0" anchor="ctr"/>
          <a:lstStyle/>
          <a:p>
            <a:pPr algn="ctr" indent="0" marL="0">
              <a:buNone/>
            </a:pPr>
            <a:r>
              <a:rPr lang="en-US" sz="1800" dirty="0">
                <a:solidFill>
                  <a:schemeClr val="bg1"/>
                </a:solidFill>
                <a:latin typeface="Malgun Gothic" pitchFamily="34" charset="0"/>
                <a:ea typeface="Malgun Gothic" pitchFamily="34" charset="-122"/>
                <a:cs typeface="Malgun Gothic" pitchFamily="34" charset="-120"/>
              </a:rPr>
              <a:t>기록글 1개</a:t>
            </a:r>
            <a:endParaRPr lang="en-US" sz="1800" dirty="0"/>
          </a:p>
        </p:txBody>
      </p:sp>
      <p:sp>
        <p:nvSpPr>
          <p:cNvPr id="8" name="pill-3"/>
          <p:cNvSpPr/>
          <p:nvPr/>
        </p:nvSpPr>
        <p:spPr>
          <a:xfrm>
            <a:off x="5394960" y="4572000"/>
            <a:ext cx="3291840" cy="640080"/>
          </a:xfrm>
          <a:prstGeom prst="roundRect">
            <a:avLst>
              <a:gd name="adj" fmla="val 50000"/>
            </a:avLst>
          </a:prstGeom>
          <a:solidFill>
            <a:srgbClr val="14502B"/>
          </a:solidFill>
          <a:ln w="12700">
            <a:solidFill>
              <a:srgbClr val="14502B"/>
            </a:solidFill>
            <a:prstDash val="solid"/>
          </a:ln>
        </p:spPr>
      </p:sp>
      <p:sp>
        <p:nvSpPr>
          <p:cNvPr id="9" name="Text 7"/>
          <p:cNvSpPr txBox="1"/>
          <p:nvPr/>
        </p:nvSpPr>
        <p:spPr>
          <a:xfrm>
            <a:off x="5394960" y="4572000"/>
            <a:ext cx="3291840" cy="640080"/>
          </a:xfrm>
          <a:prstGeom prst="rect">
            <a:avLst/>
          </a:prstGeom>
          <a:noFill/>
          <a:ln/>
        </p:spPr>
        <p:txBody>
          <a:bodyPr wrap="square" lIns="0" tIns="0" rIns="0" bIns="0" rtlCol="0" anchor="ctr"/>
          <a:lstStyle/>
          <a:p>
            <a:pPr algn="ctr" indent="0" marL="0">
              <a:buNone/>
            </a:pPr>
            <a:r>
              <a:rPr lang="en-US" sz="1800" dirty="0">
                <a:solidFill>
                  <a:schemeClr val="bg1"/>
                </a:solidFill>
                <a:latin typeface="Malgun Gothic" pitchFamily="34" charset="0"/>
                <a:ea typeface="Malgun Gothic" pitchFamily="34" charset="-122"/>
                <a:cs typeface="Malgun Gothic" pitchFamily="34" charset="-120"/>
              </a:rPr>
              <a:t>월요일 오전 7시 판정</a:t>
            </a:r>
            <a:endParaRPr lang="en-US" sz="1800" dirty="0"/>
          </a:p>
        </p:txBody>
      </p:sp>
    </p:spTree>
  </p:cSld>
  <p:clrMapOvr>
    <a:masterClrMapping/>
  </p:clrMapOvr>
</p:sld>
</file>

<file path=ppt/theme/theme1.xml><?xml version="1.0" encoding="utf-8"?>
<a:theme xmlns:a="http://schemas.openxmlformats.org/drawingml/2006/main" name="잔디로그">
  <a:themeElements>
    <a:clrScheme name="잔디로그">
      <a:dk1>
        <a:srgbClr val="17201B"/>
      </a:dk1>
      <a:lt1>
        <a:srgbClr val="F6F8F4"/>
      </a:lt1>
      <a:dk2>
        <a:srgbClr val="12261A"/>
      </a:dk2>
      <a:lt2>
        <a:srgbClr val="FFFFFF"/>
      </a:lt2>
      <a:accent1>
        <a:srgbClr val="1E6B3C"/>
      </a:accent1>
      <a:accent2>
        <a:srgbClr val="7FC49B"/>
      </a:accent2>
      <a:accent3>
        <a:srgbClr val="B42318"/>
      </a:accent3>
      <a:accent4>
        <a:srgbClr val="2A4AA8"/>
      </a:accent4>
      <a:accent5>
        <a:srgbClr val="DDE4DE"/>
      </a:accent5>
      <a:accent6>
        <a:srgbClr val="47524B"/>
      </a:accent6>
      <a:hlink>
        <a:srgbClr val="1E6B3C"/>
      </a:hlink>
      <a:folHlink>
        <a:srgbClr val="47524B"/>
      </a:folHlink>
    </a:clrScheme>
    <a:fontScheme name="잔디로그">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잔디로그 소개</dc:title>
  <dc:subject>PptxGenJS Presentation</dc:subject>
  <dc:creator>잔디로그</dc:creator>
  <cp:lastModifiedBy>잔디로그</cp:lastModifiedBy>
  <cp:revision>1</cp:revision>
  <dcterms:created xsi:type="dcterms:W3CDTF">2026-10-16T06:39:27Z</dcterms:created>
  <dcterms:modified xsi:type="dcterms:W3CDTF">2026-10-16T06:39:27Z</dcterms:modified>
</cp:coreProperties>
</file>